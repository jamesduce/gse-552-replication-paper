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James Duce. I'm replicating Jones and Marinescu 2022, which asks whether Alaska's universal cash dividend changed how much people work. Journal: AEJ Economic Policy.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paper studies Alaska's Permanent Fund Dividend — a universal, unconditional cash transfer since 1982. Theory says people should work less. But if everyone gets it simultaneously and spends it locally, labor demand rises too. The paper tests which effect wins.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identification challenge: every single Alaskan got treated. No DiD possible. Simple before/after confounds the oil boom. The Synthetic Control Method solves this by constructing a weighted average of other states — a statistical doppelganger for Alaska.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find optimal weights over 1977-1981 so the synthetic matches Alaska. Step 2: let that weighted average run forward after 1982. Step 3: any divergence is the treatment effect. Inference comes from applying the same procedure to every other state and seeing if Alaska's gap is unusual.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CPS state-year panel. I use the authors' pre-processed IPUMS_main.dta and MORG_main.dta files — no raw data wrangling needed. Four outcomes: employment, part-time, LFP, and hours worked. Alaska's pre-dividend employment rate was 63.9% — that's the baseline.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lines track each other tightly before 1982 — pre-RMSE is 0.0036, excellent fit. After 1982 they stay very close. Average treatment effect is +0.013 with p=0.459. No significant employment effect — the headline null result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Part-time rate diverges upward after 1982 — Alaska's rate rose above Synthetic Alaska. My estimate is +1.2pp vs published +1.8pp. Same direction. The significance gap comes from placebo pool size: I ran ~50 placebos, the paper ran 1,836 by also permuting treatment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all four outcomes, none show a significant employment reduction. The part-time and hours estimates point in the same direction as the paper. The significance difference is a methodological artifact — fewer placebos in my run, not a contradiction.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null result isn't a surprise once you think about general equilibrium. The micro income effect reduces labor supply by 0.6pp. But simultaneously, Alaskans spend the dividend locally, raising demand for services and creating jobs — +0.5pp. The two nearly cancel. The part-time increase is where the income effect actually shows up: people voluntarily reduce hours without quitting.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takeaways: no employment effect because general equilibrium offsets the income effect. Hours (part-time) is where the effect lives. For UBI policy, macro effects are smaller than you'd think from micro models. And SCM only works when your pre-period fit is tight — ours was excellent.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Text 1"/>
          <p:cNvSpPr/>
          <p:nvPr/>
        </p:nvSpPr>
        <p:spPr>
          <a:xfrm>
            <a:off x="548640" y="365760"/>
            <a:ext cx="8046720" cy="502920"/>
          </a:xfrm>
          <a:prstGeom prst="rect">
            <a:avLst/>
          </a:prstGeom>
          <a:noFill/>
          <a:ln/>
        </p:spPr>
        <p:txBody>
          <a:bodyPr wrap="square" rtlCol="0" anchor="ctr"/>
          <a:lstStyle/>
          <a:p>
            <a:pPr indent="0" marL="0">
              <a:buNone/>
            </a:pPr>
            <a:r>
              <a:rPr lang="en-US" sz="1400" dirty="0">
                <a:solidFill>
                  <a:srgbClr val="D6E8F7"/>
                </a:solidFill>
                <a:latin typeface="Calibri" pitchFamily="34" charset="0"/>
                <a:ea typeface="Calibri" pitchFamily="34" charset="-122"/>
                <a:cs typeface="Calibri" pitchFamily="34" charset="-120"/>
              </a:rPr>
              <a:t>James Duce</a:t>
            </a:r>
            <a:endParaRPr lang="en-US" sz="1400" dirty="0"/>
          </a:p>
        </p:txBody>
      </p:sp>
      <p:sp>
        <p:nvSpPr>
          <p:cNvPr id="4" name="Text 2"/>
          <p:cNvSpPr/>
          <p:nvPr/>
        </p:nvSpPr>
        <p:spPr>
          <a:xfrm>
            <a:off x="548640" y="777240"/>
            <a:ext cx="8046720" cy="1737360"/>
          </a:xfrm>
          <a:prstGeom prst="rect">
            <a:avLst/>
          </a:prstGeom>
          <a:noFill/>
          <a:ln/>
        </p:spPr>
        <p:txBody>
          <a:bodyPr wrap="square" rtlCol="0" anchor="ctr"/>
          <a:lstStyle/>
          <a:p>
            <a:pPr indent="0" marL="0">
              <a:buNone/>
            </a:pPr>
            <a:r>
              <a:rPr lang="en-US" sz="4200" b="1" dirty="0">
                <a:solidFill>
                  <a:srgbClr val="FFFFFF"/>
                </a:solidFill>
                <a:latin typeface="Georgia" pitchFamily="34" charset="0"/>
                <a:ea typeface="Georgia" pitchFamily="34" charset="-122"/>
                <a:cs typeface="Georgia" pitchFamily="34" charset="-120"/>
              </a:rPr>
              <a:t>Does Universal Cash</a:t>
            </a:r>
            <a:endParaRPr lang="en-US" sz="4200" dirty="0"/>
          </a:p>
          <a:p>
            <a:pPr indent="0" marL="0">
              <a:buNone/>
            </a:pPr>
            <a:r>
              <a:rPr lang="en-US" sz="4200" b="1" dirty="0">
                <a:solidFill>
                  <a:srgbClr val="FFFFFF"/>
                </a:solidFill>
                <a:latin typeface="Georgia" pitchFamily="34" charset="0"/>
                <a:ea typeface="Georgia" pitchFamily="34" charset="-122"/>
                <a:cs typeface="Georgia" pitchFamily="34" charset="-120"/>
              </a:rPr>
              <a:t>Reduce Work?</a:t>
            </a:r>
            <a:endParaRPr lang="en-US" sz="4200" dirty="0"/>
          </a:p>
        </p:txBody>
      </p:sp>
      <p:sp>
        <p:nvSpPr>
          <p:cNvPr id="5" name="Shape 3"/>
          <p:cNvSpPr/>
          <p:nvPr/>
        </p:nvSpPr>
        <p:spPr>
          <a:xfrm>
            <a:off x="548640" y="2606040"/>
            <a:ext cx="7772400" cy="640080"/>
          </a:xfrm>
          <a:prstGeom prst="rect">
            <a:avLst/>
          </a:prstGeom>
          <a:solidFill>
            <a:srgbClr val="2E6DA4">
              <a:alpha val="70000"/>
            </a:srgbClr>
          </a:solidFill>
          <a:ln w="12700">
            <a:solidFill>
              <a:srgbClr val="2E6DA4"/>
            </a:solidFill>
            <a:prstDash val="solid"/>
          </a:ln>
        </p:spPr>
      </p:sp>
      <p:sp>
        <p:nvSpPr>
          <p:cNvPr id="6" name="Text 4"/>
          <p:cNvSpPr/>
          <p:nvPr/>
        </p:nvSpPr>
        <p:spPr>
          <a:xfrm>
            <a:off x="548640" y="2606040"/>
            <a:ext cx="7772400" cy="64008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Replication of Jones &amp; Marinescu (2022)</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American Economic Journal: Economic Policy</a:t>
            </a:r>
            <a:endParaRPr lang="en-US" sz="1300" dirty="0"/>
          </a:p>
        </p:txBody>
      </p:sp>
      <p:sp>
        <p:nvSpPr>
          <p:cNvPr id="7" name="Text 5"/>
          <p:cNvSpPr/>
          <p:nvPr/>
        </p:nvSpPr>
        <p:spPr>
          <a:xfrm>
            <a:off x="548640" y="4389120"/>
            <a:ext cx="8046720" cy="320040"/>
          </a:xfrm>
          <a:prstGeom prst="rect">
            <a:avLst/>
          </a:prstGeom>
          <a:noFill/>
          <a:ln/>
        </p:spPr>
        <p:txBody>
          <a:bodyPr wrap="square" rtlCol="0" anchor="ctr"/>
          <a:lstStyle/>
          <a:p>
            <a:pPr algn="l" indent="0" marL="0">
              <a:buNone/>
            </a:pPr>
            <a:r>
              <a:rPr lang="en-US" sz="1100" dirty="0">
                <a:solidFill>
                  <a:srgbClr val="6B7F95"/>
                </a:solidFill>
                <a:latin typeface="Calibri" pitchFamily="34" charset="0"/>
                <a:ea typeface="Calibri" pitchFamily="34" charset="-122"/>
                <a:cs typeface="Calibri" pitchFamily="34" charset="-120"/>
              </a:rPr>
              <a:t>Method: Synthetic Control Method  ·  GSE 552 · Cal Poly SLO</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Research question</a:t>
            </a:r>
            <a:endParaRPr lang="en-US" sz="900" dirty="0"/>
          </a:p>
        </p:txBody>
      </p:sp>
      <p:sp>
        <p:nvSpPr>
          <p:cNvPr id="5" name="Text 3"/>
          <p:cNvSpPr/>
          <p:nvPr/>
        </p:nvSpPr>
        <p:spPr>
          <a:xfrm>
            <a:off x="457200" y="457200"/>
            <a:ext cx="8229600" cy="822960"/>
          </a:xfrm>
          <a:prstGeom prst="rect">
            <a:avLst/>
          </a:prstGeom>
          <a:noFill/>
          <a:ln/>
        </p:spPr>
        <p:txBody>
          <a:bodyPr wrap="square" rtlCol="0" anchor="t"/>
          <a:lstStyle/>
          <a:p>
            <a:pPr indent="0" marL="0">
              <a:buNone/>
            </a:pPr>
            <a:r>
              <a:rPr lang="en-US" sz="2600" b="1" dirty="0">
                <a:solidFill>
                  <a:srgbClr val="1C3557"/>
                </a:solidFill>
                <a:latin typeface="Georgia" pitchFamily="34" charset="0"/>
                <a:ea typeface="Georgia" pitchFamily="34" charset="-122"/>
                <a:cs typeface="Georgia" pitchFamily="34" charset="-120"/>
              </a:rPr>
              <a:t>Does unconditional income reduce employment?</a:t>
            </a:r>
            <a:endParaRPr lang="en-US" sz="2600" dirty="0"/>
          </a:p>
        </p:txBody>
      </p:sp>
      <p:sp>
        <p:nvSpPr>
          <p:cNvPr id="6" name="Shape 4"/>
          <p:cNvSpPr/>
          <p:nvPr/>
        </p:nvSpPr>
        <p:spPr>
          <a:xfrm>
            <a:off x="320040" y="1417320"/>
            <a:ext cx="2697480" cy="2560320"/>
          </a:xfrm>
          <a:prstGeom prst="rect">
            <a:avLst/>
          </a:prstGeom>
          <a:solidFill>
            <a:srgbClr val="FFFFFF"/>
          </a:solidFill>
          <a:ln w="12700">
            <a:solidFill>
              <a:srgbClr val="D0DCE8"/>
            </a:solidFill>
            <a:prstDash val="solid"/>
          </a:ln>
          <a:effectLst>
            <a:outerShdw sx="100000" sy="100000" kx="0" ky="0" algn="bl" rotWithShape="0" blurRad="101600" dist="25400" dir="8100000">
              <a:srgbClr val="000000">
                <a:alpha val="8000"/>
              </a:srgbClr>
            </a:outerShdw>
          </a:effectLst>
        </p:spPr>
      </p:sp>
      <p:sp>
        <p:nvSpPr>
          <p:cNvPr id="7" name="Text 5"/>
          <p:cNvSpPr/>
          <p:nvPr/>
        </p:nvSpPr>
        <p:spPr>
          <a:xfrm>
            <a:off x="457200" y="1600200"/>
            <a:ext cx="2423160" cy="320040"/>
          </a:xfrm>
          <a:prstGeom prst="rect">
            <a:avLst/>
          </a:prstGeom>
          <a:noFill/>
          <a:ln/>
        </p:spPr>
        <p:txBody>
          <a:bodyPr wrap="square" rtlCol="0" anchor="ctr"/>
          <a:lstStyle/>
          <a:p>
            <a:pPr indent="0" marL="0">
              <a:buNone/>
            </a:pPr>
            <a:r>
              <a:rPr lang="en-US" sz="1300" b="1" dirty="0">
                <a:solidFill>
                  <a:srgbClr val="2E6DA4"/>
                </a:solidFill>
                <a:latin typeface="Calibri" pitchFamily="34" charset="0"/>
                <a:ea typeface="Calibri" pitchFamily="34" charset="-122"/>
                <a:cs typeface="Calibri" pitchFamily="34" charset="-120"/>
              </a:rPr>
              <a:t>The Policy</a:t>
            </a:r>
            <a:endParaRPr lang="en-US" sz="1300" dirty="0"/>
          </a:p>
        </p:txBody>
      </p:sp>
      <p:sp>
        <p:nvSpPr>
          <p:cNvPr id="8" name="Text 6"/>
          <p:cNvSpPr/>
          <p:nvPr/>
        </p:nvSpPr>
        <p:spPr>
          <a:xfrm>
            <a:off x="457200" y="1993392"/>
            <a:ext cx="2423160" cy="1828800"/>
          </a:xfrm>
          <a:prstGeom prst="rect">
            <a:avLst/>
          </a:prstGeom>
          <a:noFill/>
          <a:ln/>
        </p:spPr>
        <p:txBody>
          <a:bodyPr wrap="square" rtlCol="0" anchor="t"/>
          <a:lstStyle/>
          <a:p>
            <a:pPr indent="0" marL="0">
              <a:buNone/>
            </a:pPr>
            <a:r>
              <a:rPr lang="en-US" sz="1200" dirty="0">
                <a:solidFill>
                  <a:srgbClr val="2C3E50"/>
                </a:solidFill>
                <a:latin typeface="Calibri" pitchFamily="34" charset="0"/>
                <a:ea typeface="Calibri" pitchFamily="34" charset="-122"/>
                <a:cs typeface="Calibri" pitchFamily="34" charset="-120"/>
              </a:rPr>
              <a:t>Alaska Permanent Fund Dividend: every resident gets ~$1,000–$2,000/yr since 1982</a:t>
            </a:r>
            <a:endParaRPr lang="en-US" sz="1200" dirty="0"/>
          </a:p>
        </p:txBody>
      </p:sp>
      <p:sp>
        <p:nvSpPr>
          <p:cNvPr id="9" name="Shape 7"/>
          <p:cNvSpPr/>
          <p:nvPr/>
        </p:nvSpPr>
        <p:spPr>
          <a:xfrm>
            <a:off x="3154680" y="1417320"/>
            <a:ext cx="2697480" cy="2560320"/>
          </a:xfrm>
          <a:prstGeom prst="rect">
            <a:avLst/>
          </a:prstGeom>
          <a:solidFill>
            <a:srgbClr val="FFFFFF"/>
          </a:solidFill>
          <a:ln w="12700">
            <a:solidFill>
              <a:srgbClr val="D0DCE8"/>
            </a:solidFill>
            <a:prstDash val="solid"/>
          </a:ln>
          <a:effectLst>
            <a:outerShdw sx="100000" sy="100000" kx="0" ky="0" algn="bl" rotWithShape="0" blurRad="101600" dist="25400" dir="8100000">
              <a:srgbClr val="000000">
                <a:alpha val="8000"/>
              </a:srgbClr>
            </a:outerShdw>
          </a:effectLst>
        </p:spPr>
      </p:sp>
      <p:sp>
        <p:nvSpPr>
          <p:cNvPr id="10" name="Text 8"/>
          <p:cNvSpPr/>
          <p:nvPr/>
        </p:nvSpPr>
        <p:spPr>
          <a:xfrm>
            <a:off x="3291840" y="1600200"/>
            <a:ext cx="2423160" cy="320040"/>
          </a:xfrm>
          <a:prstGeom prst="rect">
            <a:avLst/>
          </a:prstGeom>
          <a:noFill/>
          <a:ln/>
        </p:spPr>
        <p:txBody>
          <a:bodyPr wrap="square" rtlCol="0" anchor="ctr"/>
          <a:lstStyle/>
          <a:p>
            <a:pPr indent="0" marL="0">
              <a:buNone/>
            </a:pPr>
            <a:r>
              <a:rPr lang="en-US" sz="1300" b="1" dirty="0">
                <a:solidFill>
                  <a:srgbClr val="2E6DA4"/>
                </a:solidFill>
                <a:latin typeface="Calibri" pitchFamily="34" charset="0"/>
                <a:ea typeface="Calibri" pitchFamily="34" charset="-122"/>
                <a:cs typeface="Calibri" pitchFamily="34" charset="-120"/>
              </a:rPr>
              <a:t>The Theory</a:t>
            </a:r>
            <a:endParaRPr lang="en-US" sz="1300" dirty="0"/>
          </a:p>
        </p:txBody>
      </p:sp>
      <p:sp>
        <p:nvSpPr>
          <p:cNvPr id="11" name="Text 9"/>
          <p:cNvSpPr/>
          <p:nvPr/>
        </p:nvSpPr>
        <p:spPr>
          <a:xfrm>
            <a:off x="3291840" y="1993392"/>
            <a:ext cx="2423160" cy="1828800"/>
          </a:xfrm>
          <a:prstGeom prst="rect">
            <a:avLst/>
          </a:prstGeom>
          <a:noFill/>
          <a:ln/>
        </p:spPr>
        <p:txBody>
          <a:bodyPr wrap="square" rtlCol="0" anchor="t"/>
          <a:lstStyle/>
          <a:p>
            <a:pPr indent="0" marL="0">
              <a:buNone/>
            </a:pPr>
            <a:r>
              <a:rPr lang="en-US" sz="1200" dirty="0">
                <a:solidFill>
                  <a:srgbClr val="2C3E50"/>
                </a:solidFill>
                <a:latin typeface="Calibri" pitchFamily="34" charset="0"/>
                <a:ea typeface="Calibri" pitchFamily="34" charset="-122"/>
                <a:cs typeface="Calibri" pitchFamily="34" charset="-120"/>
              </a:rPr>
              <a:t>Standard economics: more unearned income → buy more leisure → work less</a:t>
            </a:r>
            <a:endParaRPr lang="en-US" sz="1200" dirty="0"/>
          </a:p>
        </p:txBody>
      </p:sp>
      <p:sp>
        <p:nvSpPr>
          <p:cNvPr id="12" name="Shape 10"/>
          <p:cNvSpPr/>
          <p:nvPr/>
        </p:nvSpPr>
        <p:spPr>
          <a:xfrm>
            <a:off x="5989320" y="1417320"/>
            <a:ext cx="2697480" cy="2560320"/>
          </a:xfrm>
          <a:prstGeom prst="rect">
            <a:avLst/>
          </a:prstGeom>
          <a:solidFill>
            <a:srgbClr val="FFFFFF"/>
          </a:solidFill>
          <a:ln w="12700">
            <a:solidFill>
              <a:srgbClr val="D0DCE8"/>
            </a:solidFill>
            <a:prstDash val="solid"/>
          </a:ln>
          <a:effectLst>
            <a:outerShdw sx="100000" sy="100000" kx="0" ky="0" algn="bl" rotWithShape="0" blurRad="101600" dist="25400" dir="8100000">
              <a:srgbClr val="000000">
                <a:alpha val="8000"/>
              </a:srgbClr>
            </a:outerShdw>
          </a:effectLst>
        </p:spPr>
      </p:sp>
      <p:sp>
        <p:nvSpPr>
          <p:cNvPr id="13" name="Text 11"/>
          <p:cNvSpPr/>
          <p:nvPr/>
        </p:nvSpPr>
        <p:spPr>
          <a:xfrm>
            <a:off x="6126480" y="1600200"/>
            <a:ext cx="2423160" cy="320040"/>
          </a:xfrm>
          <a:prstGeom prst="rect">
            <a:avLst/>
          </a:prstGeom>
          <a:noFill/>
          <a:ln/>
        </p:spPr>
        <p:txBody>
          <a:bodyPr wrap="square" rtlCol="0" anchor="ctr"/>
          <a:lstStyle/>
          <a:p>
            <a:pPr indent="0" marL="0">
              <a:buNone/>
            </a:pPr>
            <a:r>
              <a:rPr lang="en-US" sz="1300" b="1" dirty="0">
                <a:solidFill>
                  <a:srgbClr val="2E6DA4"/>
                </a:solidFill>
                <a:latin typeface="Calibri" pitchFamily="34" charset="0"/>
                <a:ea typeface="Calibri" pitchFamily="34" charset="-122"/>
                <a:cs typeface="Calibri" pitchFamily="34" charset="-120"/>
              </a:rPr>
              <a:t>The Puzzle</a:t>
            </a:r>
            <a:endParaRPr lang="en-US" sz="1300" dirty="0"/>
          </a:p>
        </p:txBody>
      </p:sp>
      <p:sp>
        <p:nvSpPr>
          <p:cNvPr id="14" name="Text 12"/>
          <p:cNvSpPr/>
          <p:nvPr/>
        </p:nvSpPr>
        <p:spPr>
          <a:xfrm>
            <a:off x="6126480" y="1993392"/>
            <a:ext cx="2423160" cy="1828800"/>
          </a:xfrm>
          <a:prstGeom prst="rect">
            <a:avLst/>
          </a:prstGeom>
          <a:noFill/>
          <a:ln/>
        </p:spPr>
        <p:txBody>
          <a:bodyPr wrap="square" rtlCol="0" anchor="t"/>
          <a:lstStyle/>
          <a:p>
            <a:pPr indent="0" marL="0">
              <a:buNone/>
            </a:pPr>
            <a:r>
              <a:rPr lang="en-US" sz="1200" dirty="0">
                <a:solidFill>
                  <a:srgbClr val="2C3E50"/>
                </a:solidFill>
                <a:latin typeface="Calibri" pitchFamily="34" charset="0"/>
                <a:ea typeface="Calibri" pitchFamily="34" charset="-122"/>
                <a:cs typeface="Calibri" pitchFamily="34" charset="-120"/>
              </a:rPr>
              <a:t>But if everyone gets it simultaneously, demand for goods rises too — what's the net effect?</a:t>
            </a:r>
            <a:endParaRPr lang="en-US" sz="1200" dirty="0"/>
          </a:p>
        </p:txBody>
      </p:sp>
      <p:sp>
        <p:nvSpPr>
          <p:cNvPr id="15" name="Shape 13"/>
          <p:cNvSpPr/>
          <p:nvPr/>
        </p:nvSpPr>
        <p:spPr>
          <a:xfrm>
            <a:off x="320040" y="4206240"/>
            <a:ext cx="8503920" cy="502920"/>
          </a:xfrm>
          <a:prstGeom prst="rect">
            <a:avLst/>
          </a:prstGeom>
          <a:solidFill>
            <a:srgbClr val="D6E8F7"/>
          </a:solidFill>
          <a:ln w="12700">
            <a:solidFill>
              <a:srgbClr val="D6E8F7"/>
            </a:solidFill>
            <a:prstDash val="solid"/>
          </a:ln>
        </p:spPr>
      </p:sp>
      <p:sp>
        <p:nvSpPr>
          <p:cNvPr id="16" name="Text 14"/>
          <p:cNvSpPr/>
          <p:nvPr/>
        </p:nvSpPr>
        <p:spPr>
          <a:xfrm>
            <a:off x="320040" y="4206240"/>
            <a:ext cx="8503920" cy="502920"/>
          </a:xfrm>
          <a:prstGeom prst="rect">
            <a:avLst/>
          </a:prstGeom>
          <a:noFill/>
          <a:ln/>
        </p:spPr>
        <p:txBody>
          <a:bodyPr wrap="square" rtlCol="0" anchor="ctr"/>
          <a:lstStyle/>
          <a:p>
            <a:pPr algn="ctr" indent="0" marL="0">
              <a:buNone/>
            </a:pPr>
            <a:r>
              <a:rPr lang="en-US" sz="1200" b="1" dirty="0">
                <a:solidFill>
                  <a:srgbClr val="1C3557"/>
                </a:solidFill>
                <a:latin typeface="Calibri" pitchFamily="34" charset="0"/>
                <a:ea typeface="Calibri" pitchFamily="34" charset="-122"/>
                <a:cs typeface="Calibri" pitchFamily="34" charset="-120"/>
              </a:rPr>
              <a:t>Treatment: Alaska × post-1982  |  Key outcome: did employment or hours change?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Identification problem</a:t>
            </a:r>
            <a:endParaRPr lang="en-US" sz="900" dirty="0"/>
          </a:p>
        </p:txBody>
      </p:sp>
      <p:sp>
        <p:nvSpPr>
          <p:cNvPr id="5" name="Text 3"/>
          <p:cNvSpPr/>
          <p:nvPr/>
        </p:nvSpPr>
        <p:spPr>
          <a:xfrm>
            <a:off x="457200" y="457200"/>
            <a:ext cx="8229600" cy="685800"/>
          </a:xfrm>
          <a:prstGeom prst="rect">
            <a:avLst/>
          </a:prstGeom>
          <a:noFill/>
          <a:ln/>
        </p:spPr>
        <p:txBody>
          <a:bodyPr wrap="square" rtlCol="0" anchor="t"/>
          <a:lstStyle/>
          <a:p>
            <a:pPr indent="0" marL="0">
              <a:buNone/>
            </a:pPr>
            <a:r>
              <a:rPr lang="en-US" sz="2400" b="1" dirty="0">
                <a:solidFill>
                  <a:srgbClr val="1C3557"/>
                </a:solidFill>
                <a:latin typeface="Georgia" pitchFamily="34" charset="0"/>
                <a:ea typeface="Georgia" pitchFamily="34" charset="-122"/>
                <a:cs typeface="Georgia" pitchFamily="34" charset="-120"/>
              </a:rPr>
              <a:t>Every Alaskan got the dividend — no control group exists</a:t>
            </a:r>
            <a:endParaRPr lang="en-US" sz="2400" dirty="0"/>
          </a:p>
        </p:txBody>
      </p:sp>
      <p:sp>
        <p:nvSpPr>
          <p:cNvPr id="6" name="Shape 4"/>
          <p:cNvSpPr/>
          <p:nvPr/>
        </p:nvSpPr>
        <p:spPr>
          <a:xfrm>
            <a:off x="320040" y="1325880"/>
            <a:ext cx="3977640" cy="3200400"/>
          </a:xfrm>
          <a:prstGeom prst="rect">
            <a:avLst/>
          </a:prstGeom>
          <a:solidFill>
            <a:srgbClr val="FEF3F2"/>
          </a:solidFill>
          <a:ln w="12700">
            <a:solidFill>
              <a:srgbClr val="FECACA"/>
            </a:solidFill>
            <a:prstDash val="solid"/>
          </a:ln>
        </p:spPr>
      </p:sp>
      <p:sp>
        <p:nvSpPr>
          <p:cNvPr id="7" name="Text 5"/>
          <p:cNvSpPr/>
          <p:nvPr/>
        </p:nvSpPr>
        <p:spPr>
          <a:xfrm>
            <a:off x="457200" y="1417320"/>
            <a:ext cx="3657600" cy="32004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The problem</a:t>
            </a:r>
            <a:endParaRPr lang="en-US" sz="1300" dirty="0"/>
          </a:p>
        </p:txBody>
      </p:sp>
      <p:sp>
        <p:nvSpPr>
          <p:cNvPr id="8" name="Text 6"/>
          <p:cNvSpPr/>
          <p:nvPr/>
        </p:nvSpPr>
        <p:spPr>
          <a:xfrm>
            <a:off x="457200" y="1828800"/>
            <a:ext cx="3657600" cy="2468880"/>
          </a:xfrm>
          <a:prstGeom prst="rect">
            <a:avLst/>
          </a:prstGeom>
          <a:noFill/>
          <a:ln/>
        </p:spPr>
        <p:txBody>
          <a:bodyPr wrap="square" rtlCol="0" anchor="ctr"/>
          <a:lstStyle/>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Every resident treated simultaneously — can't compare Alaskans to other Alaskans</a:t>
            </a:r>
            <a:endParaRPr lang="en-US" sz="13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Simple before/after mixes dividend with Alaska's oil boom</a:t>
            </a:r>
            <a:endParaRPr lang="en-US" sz="13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DiD needs an untreated group — there isn't one inside Alaska</a:t>
            </a:r>
            <a:endParaRPr lang="en-US" sz="1300" dirty="0"/>
          </a:p>
        </p:txBody>
      </p:sp>
      <p:sp>
        <p:nvSpPr>
          <p:cNvPr id="9" name="Shape 7"/>
          <p:cNvSpPr/>
          <p:nvPr/>
        </p:nvSpPr>
        <p:spPr>
          <a:xfrm>
            <a:off x="4572000" y="1325880"/>
            <a:ext cx="4251960" cy="3200400"/>
          </a:xfrm>
          <a:prstGeom prst="rect">
            <a:avLst/>
          </a:prstGeom>
          <a:solidFill>
            <a:srgbClr val="F0FAF5"/>
          </a:solidFill>
          <a:ln w="12700">
            <a:solidFill>
              <a:srgbClr val="86EFAC"/>
            </a:solidFill>
            <a:prstDash val="solid"/>
          </a:ln>
        </p:spPr>
      </p:sp>
      <p:sp>
        <p:nvSpPr>
          <p:cNvPr id="10" name="Text 8"/>
          <p:cNvSpPr/>
          <p:nvPr/>
        </p:nvSpPr>
        <p:spPr>
          <a:xfrm>
            <a:off x="4709160" y="1417320"/>
            <a:ext cx="3931920" cy="320040"/>
          </a:xfrm>
          <a:prstGeom prst="rect">
            <a:avLst/>
          </a:prstGeom>
          <a:noFill/>
          <a:ln/>
        </p:spPr>
        <p:txBody>
          <a:bodyPr wrap="square" rtlCol="0" anchor="ctr"/>
          <a:lstStyle/>
          <a:p>
            <a:pPr indent="0" marL="0">
              <a:buNone/>
            </a:pPr>
            <a:r>
              <a:rPr lang="en-US" sz="1300" b="1" dirty="0">
                <a:solidFill>
                  <a:srgbClr val="1A7A4A"/>
                </a:solidFill>
                <a:latin typeface="Calibri" pitchFamily="34" charset="0"/>
                <a:ea typeface="Calibri" pitchFamily="34" charset="-122"/>
                <a:cs typeface="Calibri" pitchFamily="34" charset="-120"/>
              </a:rPr>
              <a:t>The solution: SCM</a:t>
            </a:r>
            <a:endParaRPr lang="en-US" sz="1300" dirty="0"/>
          </a:p>
        </p:txBody>
      </p:sp>
      <p:sp>
        <p:nvSpPr>
          <p:cNvPr id="11" name="Text 9"/>
          <p:cNvSpPr/>
          <p:nvPr/>
        </p:nvSpPr>
        <p:spPr>
          <a:xfrm>
            <a:off x="4709160" y="1828800"/>
            <a:ext cx="3931920" cy="2468880"/>
          </a:xfrm>
          <a:prstGeom prst="rect">
            <a:avLst/>
          </a:prstGeom>
          <a:noFill/>
          <a:ln/>
        </p:spPr>
        <p:txBody>
          <a:bodyPr wrap="square" rtlCol="0" anchor="ctr"/>
          <a:lstStyle/>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Build a 'Synthetic Alaska' from states that looked like Alaska before 1982</a:t>
            </a:r>
            <a:endParaRPr lang="en-US" sz="13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Weights chosen to minimize pre-1982 prediction error</a:t>
            </a:r>
            <a:endParaRPr lang="en-US" sz="1300" dirty="0"/>
          </a:p>
          <a:p>
            <a:pPr marL="342900" indent="-342900">
              <a:buSzPct val="100000"/>
              <a:buChar char="•"/>
            </a:pPr>
            <a:r>
              <a:rPr lang="en-US" sz="1400" dirty="0">
                <a:solidFill>
                  <a:srgbClr val="2C3E50"/>
                </a:solidFill>
                <a:latin typeface="Calibri" pitchFamily="34" charset="0"/>
                <a:ea typeface="Calibri" pitchFamily="34" charset="-122"/>
                <a:cs typeface="Calibri" pitchFamily="34" charset="-120"/>
              </a:rPr>
              <a:t>Post-1982 gap = causal effect of the dividend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Synthetic control method</a:t>
            </a:r>
            <a:endParaRPr lang="en-US" sz="900" dirty="0"/>
          </a:p>
        </p:txBody>
      </p:sp>
      <p:sp>
        <p:nvSpPr>
          <p:cNvPr id="5" name="Text 3"/>
          <p:cNvSpPr/>
          <p:nvPr/>
        </p:nvSpPr>
        <p:spPr>
          <a:xfrm>
            <a:off x="457200" y="457200"/>
            <a:ext cx="8229600" cy="594360"/>
          </a:xfrm>
          <a:prstGeom prst="rect">
            <a:avLst/>
          </a:prstGeom>
          <a:noFill/>
          <a:ln/>
        </p:spPr>
        <p:txBody>
          <a:bodyPr wrap="square" rtlCol="0" anchor="t"/>
          <a:lstStyle/>
          <a:p>
            <a:pPr indent="0" marL="0">
              <a:buNone/>
            </a:pPr>
            <a:r>
              <a:rPr lang="en-US" sz="2600" b="1" dirty="0">
                <a:solidFill>
                  <a:srgbClr val="1C3557"/>
                </a:solidFill>
                <a:latin typeface="Georgia" pitchFamily="34" charset="0"/>
                <a:ea typeface="Georgia" pitchFamily="34" charset="-122"/>
                <a:cs typeface="Georgia" pitchFamily="34" charset="-120"/>
              </a:rPr>
              <a:t>Building 'Synthetic Alaska'</a:t>
            </a:r>
            <a:endParaRPr lang="en-US" sz="2600" dirty="0"/>
          </a:p>
        </p:txBody>
      </p:sp>
      <p:sp>
        <p:nvSpPr>
          <p:cNvPr id="6" name="Shape 4"/>
          <p:cNvSpPr/>
          <p:nvPr/>
        </p:nvSpPr>
        <p:spPr>
          <a:xfrm>
            <a:off x="1188720" y="1371600"/>
            <a:ext cx="822960" cy="822960"/>
          </a:xfrm>
          <a:prstGeom prst="ellipse">
            <a:avLst/>
          </a:prstGeom>
          <a:solidFill>
            <a:srgbClr val="2E6DA4"/>
          </a:solidFill>
          <a:ln w="12700">
            <a:solidFill>
              <a:srgbClr val="2E6DA4"/>
            </a:solidFill>
            <a:prstDash val="solid"/>
          </a:ln>
        </p:spPr>
      </p:sp>
      <p:sp>
        <p:nvSpPr>
          <p:cNvPr id="7" name="Text 5"/>
          <p:cNvSpPr/>
          <p:nvPr/>
        </p:nvSpPr>
        <p:spPr>
          <a:xfrm>
            <a:off x="1188720" y="13716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1</a:t>
            </a:r>
            <a:endParaRPr lang="en-US" sz="2000" dirty="0"/>
          </a:p>
        </p:txBody>
      </p:sp>
      <p:sp>
        <p:nvSpPr>
          <p:cNvPr id="8" name="Shape 6"/>
          <p:cNvSpPr/>
          <p:nvPr/>
        </p:nvSpPr>
        <p:spPr>
          <a:xfrm>
            <a:off x="274320" y="2331720"/>
            <a:ext cx="2743200" cy="2286000"/>
          </a:xfrm>
          <a:prstGeom prst="rect">
            <a:avLst/>
          </a:prstGeom>
          <a:solidFill>
            <a:srgbClr val="FFFFFF"/>
          </a:solidFill>
          <a:ln w="12700">
            <a:solidFill>
              <a:srgbClr val="D0DCE8"/>
            </a:solidFill>
            <a:prstDash val="solid"/>
          </a:ln>
          <a:effectLst>
            <a:outerShdw sx="100000" sy="100000" kx="0" ky="0" algn="bl" rotWithShape="0" blurRad="76200" dist="25400" dir="8100000">
              <a:srgbClr val="000000">
                <a:alpha val="7000"/>
              </a:srgbClr>
            </a:outerShdw>
          </a:effectLst>
        </p:spPr>
      </p:sp>
      <p:sp>
        <p:nvSpPr>
          <p:cNvPr id="9" name="Text 7"/>
          <p:cNvSpPr/>
          <p:nvPr/>
        </p:nvSpPr>
        <p:spPr>
          <a:xfrm>
            <a:off x="384048" y="2450592"/>
            <a:ext cx="2523744" cy="365760"/>
          </a:xfrm>
          <a:prstGeom prst="rect">
            <a:avLst/>
          </a:prstGeom>
          <a:noFill/>
          <a:ln/>
        </p:spPr>
        <p:txBody>
          <a:bodyPr wrap="square" rtlCol="0" anchor="ctr"/>
          <a:lstStyle/>
          <a:p>
            <a:pPr indent="0" marL="0">
              <a:buNone/>
            </a:pPr>
            <a:r>
              <a:rPr lang="en-US" sz="1300" b="1" dirty="0">
                <a:solidFill>
                  <a:srgbClr val="1C3557"/>
                </a:solidFill>
                <a:latin typeface="Calibri" pitchFamily="34" charset="0"/>
                <a:ea typeface="Calibri" pitchFamily="34" charset="-122"/>
                <a:cs typeface="Calibri" pitchFamily="34" charset="-120"/>
              </a:rPr>
              <a:t>Pre-period matching</a:t>
            </a:r>
            <a:endParaRPr lang="en-US" sz="1300" dirty="0"/>
          </a:p>
        </p:txBody>
      </p:sp>
      <p:sp>
        <p:nvSpPr>
          <p:cNvPr id="10" name="Text 8"/>
          <p:cNvSpPr/>
          <p:nvPr/>
        </p:nvSpPr>
        <p:spPr>
          <a:xfrm>
            <a:off x="384048" y="2880360"/>
            <a:ext cx="2523744" cy="1600200"/>
          </a:xfrm>
          <a:prstGeom prst="rect">
            <a:avLst/>
          </a:prstGeom>
          <a:noFill/>
          <a:ln/>
        </p:spPr>
        <p:txBody>
          <a:bodyPr wrap="square" rtlCol="0" anchor="t"/>
          <a:lstStyle/>
          <a:p>
            <a:pPr indent="0" marL="0">
              <a:buNone/>
            </a:pPr>
            <a:r>
              <a:rPr lang="en-US" sz="1200" dirty="0">
                <a:solidFill>
                  <a:srgbClr val="2C3E50"/>
                </a:solidFill>
                <a:latin typeface="Calibri" pitchFamily="34" charset="0"/>
                <a:ea typeface="Calibri" pitchFamily="34" charset="-122"/>
                <a:cs typeface="Calibri" pitchFamily="34" charset="-120"/>
              </a:rPr>
              <a:t>Find weights for 50 donor states that minimize prediction error on employment, demographics &amp; industry mix, 1977–1981</a:t>
            </a:r>
            <a:endParaRPr lang="en-US" sz="1200" dirty="0"/>
          </a:p>
        </p:txBody>
      </p:sp>
      <p:sp>
        <p:nvSpPr>
          <p:cNvPr id="11" name="Shape 9"/>
          <p:cNvSpPr/>
          <p:nvPr/>
        </p:nvSpPr>
        <p:spPr>
          <a:xfrm>
            <a:off x="3035808" y="2926080"/>
            <a:ext cx="109728" cy="0"/>
          </a:xfrm>
          <a:prstGeom prst="line">
            <a:avLst/>
          </a:prstGeom>
          <a:noFill/>
          <a:ln w="19050">
            <a:solidFill>
              <a:srgbClr val="2E6DA4"/>
            </a:solidFill>
            <a:prstDash val="solid"/>
          </a:ln>
        </p:spPr>
      </p:sp>
      <p:sp>
        <p:nvSpPr>
          <p:cNvPr id="12" name="Shape 10"/>
          <p:cNvSpPr/>
          <p:nvPr/>
        </p:nvSpPr>
        <p:spPr>
          <a:xfrm>
            <a:off x="4087368" y="1371600"/>
            <a:ext cx="822960" cy="822960"/>
          </a:xfrm>
          <a:prstGeom prst="ellipse">
            <a:avLst/>
          </a:prstGeom>
          <a:solidFill>
            <a:srgbClr val="2E6DA4"/>
          </a:solidFill>
          <a:ln w="12700">
            <a:solidFill>
              <a:srgbClr val="2E6DA4"/>
            </a:solidFill>
            <a:prstDash val="solid"/>
          </a:ln>
        </p:spPr>
      </p:sp>
      <p:sp>
        <p:nvSpPr>
          <p:cNvPr id="13" name="Text 11"/>
          <p:cNvSpPr/>
          <p:nvPr/>
        </p:nvSpPr>
        <p:spPr>
          <a:xfrm>
            <a:off x="4087368" y="13716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2</a:t>
            </a:r>
            <a:endParaRPr lang="en-US" sz="2000" dirty="0"/>
          </a:p>
        </p:txBody>
      </p:sp>
      <p:sp>
        <p:nvSpPr>
          <p:cNvPr id="14" name="Shape 12"/>
          <p:cNvSpPr/>
          <p:nvPr/>
        </p:nvSpPr>
        <p:spPr>
          <a:xfrm>
            <a:off x="3172968" y="2331720"/>
            <a:ext cx="2743200" cy="2286000"/>
          </a:xfrm>
          <a:prstGeom prst="rect">
            <a:avLst/>
          </a:prstGeom>
          <a:solidFill>
            <a:srgbClr val="FFFFFF"/>
          </a:solidFill>
          <a:ln w="12700">
            <a:solidFill>
              <a:srgbClr val="D0DCE8"/>
            </a:solidFill>
            <a:prstDash val="solid"/>
          </a:ln>
          <a:effectLst>
            <a:outerShdw sx="100000" sy="100000" kx="0" ky="0" algn="bl" rotWithShape="0" blurRad="76200" dist="25400" dir="8100000">
              <a:srgbClr val="000000">
                <a:alpha val="7000"/>
              </a:srgbClr>
            </a:outerShdw>
          </a:effectLst>
        </p:spPr>
      </p:sp>
      <p:sp>
        <p:nvSpPr>
          <p:cNvPr id="15" name="Text 13"/>
          <p:cNvSpPr/>
          <p:nvPr/>
        </p:nvSpPr>
        <p:spPr>
          <a:xfrm>
            <a:off x="3282696" y="2450592"/>
            <a:ext cx="2523744" cy="365760"/>
          </a:xfrm>
          <a:prstGeom prst="rect">
            <a:avLst/>
          </a:prstGeom>
          <a:noFill/>
          <a:ln/>
        </p:spPr>
        <p:txBody>
          <a:bodyPr wrap="square" rtlCol="0" anchor="ctr"/>
          <a:lstStyle/>
          <a:p>
            <a:pPr indent="0" marL="0">
              <a:buNone/>
            </a:pPr>
            <a:r>
              <a:rPr lang="en-US" sz="1300" b="1" dirty="0">
                <a:solidFill>
                  <a:srgbClr val="1C3557"/>
                </a:solidFill>
                <a:latin typeface="Calibri" pitchFamily="34" charset="0"/>
                <a:ea typeface="Calibri" pitchFamily="34" charset="-122"/>
                <a:cs typeface="Calibri" pitchFamily="34" charset="-120"/>
              </a:rPr>
              <a:t>Counterfactual</a:t>
            </a:r>
            <a:endParaRPr lang="en-US" sz="1300" dirty="0"/>
          </a:p>
        </p:txBody>
      </p:sp>
      <p:sp>
        <p:nvSpPr>
          <p:cNvPr id="16" name="Text 14"/>
          <p:cNvSpPr/>
          <p:nvPr/>
        </p:nvSpPr>
        <p:spPr>
          <a:xfrm>
            <a:off x="3282696" y="2880360"/>
            <a:ext cx="2523744" cy="1600200"/>
          </a:xfrm>
          <a:prstGeom prst="rect">
            <a:avLst/>
          </a:prstGeom>
          <a:noFill/>
          <a:ln/>
        </p:spPr>
        <p:txBody>
          <a:bodyPr wrap="square" rtlCol="0" anchor="t"/>
          <a:lstStyle/>
          <a:p>
            <a:pPr indent="0" marL="0">
              <a:buNone/>
            </a:pPr>
            <a:r>
              <a:rPr lang="en-US" sz="1200" dirty="0">
                <a:solidFill>
                  <a:srgbClr val="2C3E50"/>
                </a:solidFill>
                <a:latin typeface="Calibri" pitchFamily="34" charset="0"/>
                <a:ea typeface="Calibri" pitchFamily="34" charset="-122"/>
                <a:cs typeface="Calibri" pitchFamily="34" charset="-120"/>
              </a:rPr>
              <a:t>Synthetic Alaska = weighted avg of donors post-1982. Top weights: Wyoming 46%, Montana 24%, New Mexico 12%, N. Dakota 11%</a:t>
            </a:r>
            <a:endParaRPr lang="en-US" sz="1200" dirty="0"/>
          </a:p>
        </p:txBody>
      </p:sp>
      <p:sp>
        <p:nvSpPr>
          <p:cNvPr id="17" name="Shape 15"/>
          <p:cNvSpPr/>
          <p:nvPr/>
        </p:nvSpPr>
        <p:spPr>
          <a:xfrm>
            <a:off x="5934456" y="2926080"/>
            <a:ext cx="109728" cy="0"/>
          </a:xfrm>
          <a:prstGeom prst="line">
            <a:avLst/>
          </a:prstGeom>
          <a:noFill/>
          <a:ln w="19050">
            <a:solidFill>
              <a:srgbClr val="2E6DA4"/>
            </a:solidFill>
            <a:prstDash val="solid"/>
          </a:ln>
        </p:spPr>
      </p:sp>
      <p:sp>
        <p:nvSpPr>
          <p:cNvPr id="18" name="Shape 16"/>
          <p:cNvSpPr/>
          <p:nvPr/>
        </p:nvSpPr>
        <p:spPr>
          <a:xfrm>
            <a:off x="6986016" y="1371600"/>
            <a:ext cx="822960" cy="822960"/>
          </a:xfrm>
          <a:prstGeom prst="ellipse">
            <a:avLst/>
          </a:prstGeom>
          <a:solidFill>
            <a:srgbClr val="2E6DA4"/>
          </a:solidFill>
          <a:ln w="12700">
            <a:solidFill>
              <a:srgbClr val="2E6DA4"/>
            </a:solidFill>
            <a:prstDash val="solid"/>
          </a:ln>
        </p:spPr>
      </p:sp>
      <p:sp>
        <p:nvSpPr>
          <p:cNvPr id="19" name="Text 17"/>
          <p:cNvSpPr/>
          <p:nvPr/>
        </p:nvSpPr>
        <p:spPr>
          <a:xfrm>
            <a:off x="6986016" y="13716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Georgia" pitchFamily="34" charset="0"/>
                <a:ea typeface="Georgia" pitchFamily="34" charset="-122"/>
                <a:cs typeface="Georgia" pitchFamily="34" charset="-120"/>
              </a:rPr>
              <a:t>3</a:t>
            </a:r>
            <a:endParaRPr lang="en-US" sz="2000" dirty="0"/>
          </a:p>
        </p:txBody>
      </p:sp>
      <p:sp>
        <p:nvSpPr>
          <p:cNvPr id="20" name="Shape 18"/>
          <p:cNvSpPr/>
          <p:nvPr/>
        </p:nvSpPr>
        <p:spPr>
          <a:xfrm>
            <a:off x="6071616" y="2331720"/>
            <a:ext cx="2743200" cy="2286000"/>
          </a:xfrm>
          <a:prstGeom prst="rect">
            <a:avLst/>
          </a:prstGeom>
          <a:solidFill>
            <a:srgbClr val="FFFFFF"/>
          </a:solidFill>
          <a:ln w="12700">
            <a:solidFill>
              <a:srgbClr val="D0DCE8"/>
            </a:solidFill>
            <a:prstDash val="solid"/>
          </a:ln>
          <a:effectLst>
            <a:outerShdw sx="100000" sy="100000" kx="0" ky="0" algn="bl" rotWithShape="0" blurRad="76200" dist="25400" dir="8100000">
              <a:srgbClr val="000000">
                <a:alpha val="7000"/>
              </a:srgbClr>
            </a:outerShdw>
          </a:effectLst>
        </p:spPr>
      </p:sp>
      <p:sp>
        <p:nvSpPr>
          <p:cNvPr id="21" name="Text 19"/>
          <p:cNvSpPr/>
          <p:nvPr/>
        </p:nvSpPr>
        <p:spPr>
          <a:xfrm>
            <a:off x="6181344" y="2450592"/>
            <a:ext cx="2523744" cy="365760"/>
          </a:xfrm>
          <a:prstGeom prst="rect">
            <a:avLst/>
          </a:prstGeom>
          <a:noFill/>
          <a:ln/>
        </p:spPr>
        <p:txBody>
          <a:bodyPr wrap="square" rtlCol="0" anchor="ctr"/>
          <a:lstStyle/>
          <a:p>
            <a:pPr indent="0" marL="0">
              <a:buNone/>
            </a:pPr>
            <a:r>
              <a:rPr lang="en-US" sz="1300" b="1" dirty="0">
                <a:solidFill>
                  <a:srgbClr val="1C3557"/>
                </a:solidFill>
                <a:latin typeface="Calibri" pitchFamily="34" charset="0"/>
                <a:ea typeface="Calibri" pitchFamily="34" charset="-122"/>
                <a:cs typeface="Calibri" pitchFamily="34" charset="-120"/>
              </a:rPr>
              <a:t>Treatment effect</a:t>
            </a:r>
            <a:endParaRPr lang="en-US" sz="1300" dirty="0"/>
          </a:p>
        </p:txBody>
      </p:sp>
      <p:sp>
        <p:nvSpPr>
          <p:cNvPr id="22" name="Text 20"/>
          <p:cNvSpPr/>
          <p:nvPr/>
        </p:nvSpPr>
        <p:spPr>
          <a:xfrm>
            <a:off x="6181344" y="2880360"/>
            <a:ext cx="2523744" cy="1600200"/>
          </a:xfrm>
          <a:prstGeom prst="rect">
            <a:avLst/>
          </a:prstGeom>
          <a:noFill/>
          <a:ln/>
        </p:spPr>
        <p:txBody>
          <a:bodyPr wrap="square" rtlCol="0" anchor="t"/>
          <a:lstStyle/>
          <a:p>
            <a:pPr indent="0" marL="0">
              <a:buNone/>
            </a:pPr>
            <a:r>
              <a:rPr lang="en-US" sz="1200" dirty="0">
                <a:solidFill>
                  <a:srgbClr val="2C3E50"/>
                </a:solidFill>
                <a:latin typeface="Calibri" pitchFamily="34" charset="0"/>
                <a:ea typeface="Calibri" pitchFamily="34" charset="-122"/>
                <a:cs typeface="Calibri" pitchFamily="34" charset="-120"/>
              </a:rPr>
              <a:t>α̂₀ₜ = Actual Alaska − Synthetic Alaska, post-1982. Average over 1982–2014 = Table 2 estimates</a:t>
            </a:r>
            <a:endParaRPr lang="en-US" sz="1200" dirty="0"/>
          </a:p>
        </p:txBody>
      </p:sp>
      <p:sp>
        <p:nvSpPr>
          <p:cNvPr id="23" name="Shape 21"/>
          <p:cNvSpPr/>
          <p:nvPr/>
        </p:nvSpPr>
        <p:spPr>
          <a:xfrm>
            <a:off x="274320" y="4663440"/>
            <a:ext cx="8595360" cy="347472"/>
          </a:xfrm>
          <a:prstGeom prst="rect">
            <a:avLst/>
          </a:prstGeom>
          <a:solidFill>
            <a:srgbClr val="D6E8F7"/>
          </a:solidFill>
          <a:ln w="12700">
            <a:solidFill>
              <a:srgbClr val="D6E8F7"/>
            </a:solidFill>
            <a:prstDash val="solid"/>
          </a:ln>
        </p:spPr>
      </p:sp>
      <p:sp>
        <p:nvSpPr>
          <p:cNvPr id="24" name="Text 22"/>
          <p:cNvSpPr/>
          <p:nvPr/>
        </p:nvSpPr>
        <p:spPr>
          <a:xfrm>
            <a:off x="274320" y="4663440"/>
            <a:ext cx="8595360" cy="347472"/>
          </a:xfrm>
          <a:prstGeom prst="rect">
            <a:avLst/>
          </a:prstGeom>
          <a:noFill/>
          <a:ln/>
        </p:spPr>
        <p:txBody>
          <a:bodyPr wrap="square" rtlCol="0" anchor="ctr"/>
          <a:lstStyle/>
          <a:p>
            <a:pPr algn="ctr" indent="0" marL="0">
              <a:buNone/>
            </a:pPr>
            <a:r>
              <a:rPr lang="en-US" sz="1100" dirty="0">
                <a:solidFill>
                  <a:srgbClr val="1C3557"/>
                </a:solidFill>
                <a:latin typeface="Calibri" pitchFamily="34" charset="0"/>
                <a:ea typeface="Calibri" pitchFamily="34" charset="-122"/>
                <a:cs typeface="Calibri" pitchFamily="34" charset="-120"/>
              </a:rPr>
              <a:t>Inference: repeat SCM for every donor state (placebo test) — p-value = fraction with effect ≥ Alaska's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Data</a:t>
            </a:r>
            <a:endParaRPr lang="en-US" sz="900" dirty="0"/>
          </a:p>
        </p:txBody>
      </p:sp>
      <p:sp>
        <p:nvSpPr>
          <p:cNvPr id="5" name="Text 3"/>
          <p:cNvSpPr/>
          <p:nvPr/>
        </p:nvSpPr>
        <p:spPr>
          <a:xfrm>
            <a:off x="457200" y="457200"/>
            <a:ext cx="8229600" cy="594360"/>
          </a:xfrm>
          <a:prstGeom prst="rect">
            <a:avLst/>
          </a:prstGeom>
          <a:noFill/>
          <a:ln/>
        </p:spPr>
        <p:txBody>
          <a:bodyPr wrap="square" rtlCol="0" anchor="t"/>
          <a:lstStyle/>
          <a:p>
            <a:pPr indent="0" marL="0">
              <a:buNone/>
            </a:pPr>
            <a:r>
              <a:rPr lang="en-US" sz="2600" b="1" dirty="0">
                <a:solidFill>
                  <a:srgbClr val="1C3557"/>
                </a:solidFill>
                <a:latin typeface="Georgia" pitchFamily="34" charset="0"/>
                <a:ea typeface="Georgia" pitchFamily="34" charset="-122"/>
                <a:cs typeface="Georgia" pitchFamily="34" charset="-120"/>
              </a:rPr>
              <a:t>Current Population Survey, 1977–2014</a:t>
            </a:r>
            <a:endParaRPr lang="en-US" sz="2600" dirty="0"/>
          </a:p>
        </p:txBody>
      </p:sp>
      <p:sp>
        <p:nvSpPr>
          <p:cNvPr id="6" name="Shape 4"/>
          <p:cNvSpPr/>
          <p:nvPr/>
        </p:nvSpPr>
        <p:spPr>
          <a:xfrm>
            <a:off x="320040" y="1325880"/>
            <a:ext cx="2011680" cy="1143000"/>
          </a:xfrm>
          <a:prstGeom prst="rect">
            <a:avLst/>
          </a:prstGeom>
          <a:solidFill>
            <a:srgbClr val="D6E8F7"/>
          </a:solidFill>
          <a:ln w="12700">
            <a:solidFill>
              <a:srgbClr val="D6E8F7"/>
            </a:solidFill>
            <a:prstDash val="solid"/>
          </a:ln>
        </p:spPr>
      </p:sp>
      <p:sp>
        <p:nvSpPr>
          <p:cNvPr id="7" name="Text 5"/>
          <p:cNvSpPr/>
          <p:nvPr/>
        </p:nvSpPr>
        <p:spPr>
          <a:xfrm>
            <a:off x="320040" y="1371600"/>
            <a:ext cx="2011680" cy="640080"/>
          </a:xfrm>
          <a:prstGeom prst="rect">
            <a:avLst/>
          </a:prstGeom>
          <a:noFill/>
          <a:ln/>
        </p:spPr>
        <p:txBody>
          <a:bodyPr wrap="square" rtlCol="0" anchor="ctr"/>
          <a:lstStyle/>
          <a:p>
            <a:pPr algn="ctr" indent="0" marL="0">
              <a:buNone/>
            </a:pPr>
            <a:r>
              <a:rPr lang="en-US" sz="3200" b="1" dirty="0">
                <a:solidFill>
                  <a:srgbClr val="2E6DA4"/>
                </a:solidFill>
                <a:latin typeface="Georgia" pitchFamily="34" charset="0"/>
                <a:ea typeface="Georgia" pitchFamily="34" charset="-122"/>
                <a:cs typeface="Georgia" pitchFamily="34" charset="-120"/>
              </a:rPr>
              <a:t>51</a:t>
            </a:r>
            <a:endParaRPr lang="en-US" sz="3200" dirty="0"/>
          </a:p>
        </p:txBody>
      </p:sp>
      <p:sp>
        <p:nvSpPr>
          <p:cNvPr id="8" name="Text 6"/>
          <p:cNvSpPr/>
          <p:nvPr/>
        </p:nvSpPr>
        <p:spPr>
          <a:xfrm>
            <a:off x="320040" y="1920240"/>
            <a:ext cx="2011680" cy="502920"/>
          </a:xfrm>
          <a:prstGeom prst="rect">
            <a:avLst/>
          </a:prstGeom>
          <a:noFill/>
          <a:ln/>
        </p:spPr>
        <p:txBody>
          <a:bodyPr wrap="square" rtlCol="0" anchor="ctr"/>
          <a:lstStyle/>
          <a:p>
            <a:pPr algn="ctr" indent="0" marL="0">
              <a:buNone/>
            </a:pPr>
            <a:r>
              <a:rPr lang="en-US" sz="1000" dirty="0">
                <a:solidFill>
                  <a:srgbClr val="6B7F95"/>
                </a:solidFill>
                <a:latin typeface="Calibri" pitchFamily="34" charset="0"/>
                <a:ea typeface="Calibri" pitchFamily="34" charset="-122"/>
                <a:cs typeface="Calibri" pitchFamily="34" charset="-120"/>
              </a:rPr>
              <a:t>states</a:t>
            </a:r>
            <a:endParaRPr lang="en-US" sz="1000" dirty="0"/>
          </a:p>
          <a:p>
            <a:pPr algn="ctr" indent="0" marL="0">
              <a:buNone/>
            </a:pPr>
            <a:r>
              <a:rPr lang="en-US" sz="1000" dirty="0">
                <a:solidFill>
                  <a:srgbClr val="6B7F95"/>
                </a:solidFill>
                <a:latin typeface="Calibri" pitchFamily="34" charset="0"/>
                <a:ea typeface="Calibri" pitchFamily="34" charset="-122"/>
                <a:cs typeface="Calibri" pitchFamily="34" charset="-120"/>
              </a:rPr>
              <a:t>all 50 + D.C.</a:t>
            </a:r>
            <a:endParaRPr lang="en-US" sz="1000" dirty="0"/>
          </a:p>
        </p:txBody>
      </p:sp>
      <p:sp>
        <p:nvSpPr>
          <p:cNvPr id="9" name="Shape 7"/>
          <p:cNvSpPr/>
          <p:nvPr/>
        </p:nvSpPr>
        <p:spPr>
          <a:xfrm>
            <a:off x="2468880" y="1325880"/>
            <a:ext cx="2011680" cy="1143000"/>
          </a:xfrm>
          <a:prstGeom prst="rect">
            <a:avLst/>
          </a:prstGeom>
          <a:solidFill>
            <a:srgbClr val="D6E8F7"/>
          </a:solidFill>
          <a:ln w="12700">
            <a:solidFill>
              <a:srgbClr val="D6E8F7"/>
            </a:solidFill>
            <a:prstDash val="solid"/>
          </a:ln>
        </p:spPr>
      </p:sp>
      <p:sp>
        <p:nvSpPr>
          <p:cNvPr id="10" name="Text 8"/>
          <p:cNvSpPr/>
          <p:nvPr/>
        </p:nvSpPr>
        <p:spPr>
          <a:xfrm>
            <a:off x="2468880" y="1371600"/>
            <a:ext cx="2011680" cy="640080"/>
          </a:xfrm>
          <a:prstGeom prst="rect">
            <a:avLst/>
          </a:prstGeom>
          <a:noFill/>
          <a:ln/>
        </p:spPr>
        <p:txBody>
          <a:bodyPr wrap="square" rtlCol="0" anchor="ctr"/>
          <a:lstStyle/>
          <a:p>
            <a:pPr algn="ctr" indent="0" marL="0">
              <a:buNone/>
            </a:pPr>
            <a:r>
              <a:rPr lang="en-US" sz="3200" b="1" dirty="0">
                <a:solidFill>
                  <a:srgbClr val="2E6DA4"/>
                </a:solidFill>
                <a:latin typeface="Georgia" pitchFamily="34" charset="0"/>
                <a:ea typeface="Georgia" pitchFamily="34" charset="-122"/>
                <a:cs typeface="Georgia" pitchFamily="34" charset="-120"/>
              </a:rPr>
              <a:t>38</a:t>
            </a:r>
            <a:endParaRPr lang="en-US" sz="3200" dirty="0"/>
          </a:p>
        </p:txBody>
      </p:sp>
      <p:sp>
        <p:nvSpPr>
          <p:cNvPr id="11" name="Text 9"/>
          <p:cNvSpPr/>
          <p:nvPr/>
        </p:nvSpPr>
        <p:spPr>
          <a:xfrm>
            <a:off x="2468880" y="1920240"/>
            <a:ext cx="2011680" cy="502920"/>
          </a:xfrm>
          <a:prstGeom prst="rect">
            <a:avLst/>
          </a:prstGeom>
          <a:noFill/>
          <a:ln/>
        </p:spPr>
        <p:txBody>
          <a:bodyPr wrap="square" rtlCol="0" anchor="ctr"/>
          <a:lstStyle/>
          <a:p>
            <a:pPr algn="ctr" indent="0" marL="0">
              <a:buNone/>
            </a:pPr>
            <a:r>
              <a:rPr lang="en-US" sz="1000" dirty="0">
                <a:solidFill>
                  <a:srgbClr val="6B7F95"/>
                </a:solidFill>
                <a:latin typeface="Calibri" pitchFamily="34" charset="0"/>
                <a:ea typeface="Calibri" pitchFamily="34" charset="-122"/>
                <a:cs typeface="Calibri" pitchFamily="34" charset="-120"/>
              </a:rPr>
              <a:t>years</a:t>
            </a:r>
            <a:endParaRPr lang="en-US" sz="1000" dirty="0"/>
          </a:p>
          <a:p>
            <a:pPr algn="ctr" indent="0" marL="0">
              <a:buNone/>
            </a:pPr>
            <a:r>
              <a:rPr lang="en-US" sz="1000" dirty="0">
                <a:solidFill>
                  <a:srgbClr val="6B7F95"/>
                </a:solidFill>
                <a:latin typeface="Calibri" pitchFamily="34" charset="0"/>
                <a:ea typeface="Calibri" pitchFamily="34" charset="-122"/>
                <a:cs typeface="Calibri" pitchFamily="34" charset="-120"/>
              </a:rPr>
              <a:t>1977 – 2014</a:t>
            </a:r>
            <a:endParaRPr lang="en-US" sz="1000" dirty="0"/>
          </a:p>
        </p:txBody>
      </p:sp>
      <p:sp>
        <p:nvSpPr>
          <p:cNvPr id="12" name="Shape 10"/>
          <p:cNvSpPr/>
          <p:nvPr/>
        </p:nvSpPr>
        <p:spPr>
          <a:xfrm>
            <a:off x="4617720" y="1325880"/>
            <a:ext cx="2011680" cy="1143000"/>
          </a:xfrm>
          <a:prstGeom prst="rect">
            <a:avLst/>
          </a:prstGeom>
          <a:solidFill>
            <a:srgbClr val="D6E8F7"/>
          </a:solidFill>
          <a:ln w="12700">
            <a:solidFill>
              <a:srgbClr val="D6E8F7"/>
            </a:solidFill>
            <a:prstDash val="solid"/>
          </a:ln>
        </p:spPr>
      </p:sp>
      <p:sp>
        <p:nvSpPr>
          <p:cNvPr id="13" name="Text 11"/>
          <p:cNvSpPr/>
          <p:nvPr/>
        </p:nvSpPr>
        <p:spPr>
          <a:xfrm>
            <a:off x="4617720" y="1371600"/>
            <a:ext cx="2011680" cy="640080"/>
          </a:xfrm>
          <a:prstGeom prst="rect">
            <a:avLst/>
          </a:prstGeom>
          <a:noFill/>
          <a:ln/>
        </p:spPr>
        <p:txBody>
          <a:bodyPr wrap="square" rtlCol="0" anchor="ctr"/>
          <a:lstStyle/>
          <a:p>
            <a:pPr algn="ctr" indent="0" marL="0">
              <a:buNone/>
            </a:pPr>
            <a:r>
              <a:rPr lang="en-US" sz="3200" b="1" dirty="0">
                <a:solidFill>
                  <a:srgbClr val="2E6DA4"/>
                </a:solidFill>
                <a:latin typeface="Georgia" pitchFamily="34" charset="0"/>
                <a:ea typeface="Georgia" pitchFamily="34" charset="-122"/>
                <a:cs typeface="Georgia" pitchFamily="34" charset="-120"/>
              </a:rPr>
              <a:t>5</a:t>
            </a:r>
            <a:endParaRPr lang="en-US" sz="3200" dirty="0"/>
          </a:p>
        </p:txBody>
      </p:sp>
      <p:sp>
        <p:nvSpPr>
          <p:cNvPr id="14" name="Text 12"/>
          <p:cNvSpPr/>
          <p:nvPr/>
        </p:nvSpPr>
        <p:spPr>
          <a:xfrm>
            <a:off x="4617720" y="1920240"/>
            <a:ext cx="2011680" cy="502920"/>
          </a:xfrm>
          <a:prstGeom prst="rect">
            <a:avLst/>
          </a:prstGeom>
          <a:noFill/>
          <a:ln/>
        </p:spPr>
        <p:txBody>
          <a:bodyPr wrap="square" rtlCol="0" anchor="ctr"/>
          <a:lstStyle/>
          <a:p>
            <a:pPr algn="ctr" indent="0" marL="0">
              <a:buNone/>
            </a:pPr>
            <a:r>
              <a:rPr lang="en-US" sz="1000" dirty="0">
                <a:solidFill>
                  <a:srgbClr val="6B7F95"/>
                </a:solidFill>
                <a:latin typeface="Calibri" pitchFamily="34" charset="0"/>
                <a:ea typeface="Calibri" pitchFamily="34" charset="-122"/>
                <a:cs typeface="Calibri" pitchFamily="34" charset="-120"/>
              </a:rPr>
              <a:t>pre-period</a:t>
            </a:r>
            <a:endParaRPr lang="en-US" sz="1000" dirty="0"/>
          </a:p>
          <a:p>
            <a:pPr algn="ctr" indent="0" marL="0">
              <a:buNone/>
            </a:pPr>
            <a:r>
              <a:rPr lang="en-US" sz="1000" dirty="0">
                <a:solidFill>
                  <a:srgbClr val="6B7F95"/>
                </a:solidFill>
                <a:latin typeface="Calibri" pitchFamily="34" charset="0"/>
                <a:ea typeface="Calibri" pitchFamily="34" charset="-122"/>
                <a:cs typeface="Calibri" pitchFamily="34" charset="-120"/>
              </a:rPr>
              <a:t>1977 – 1981</a:t>
            </a:r>
            <a:endParaRPr lang="en-US" sz="1000" dirty="0"/>
          </a:p>
        </p:txBody>
      </p:sp>
      <p:sp>
        <p:nvSpPr>
          <p:cNvPr id="15" name="Shape 13"/>
          <p:cNvSpPr/>
          <p:nvPr/>
        </p:nvSpPr>
        <p:spPr>
          <a:xfrm>
            <a:off x="6766560" y="1325880"/>
            <a:ext cx="2011680" cy="1143000"/>
          </a:xfrm>
          <a:prstGeom prst="rect">
            <a:avLst/>
          </a:prstGeom>
          <a:solidFill>
            <a:srgbClr val="D6E8F7"/>
          </a:solidFill>
          <a:ln w="12700">
            <a:solidFill>
              <a:srgbClr val="D6E8F7"/>
            </a:solidFill>
            <a:prstDash val="solid"/>
          </a:ln>
        </p:spPr>
      </p:sp>
      <p:sp>
        <p:nvSpPr>
          <p:cNvPr id="16" name="Text 14"/>
          <p:cNvSpPr/>
          <p:nvPr/>
        </p:nvSpPr>
        <p:spPr>
          <a:xfrm>
            <a:off x="6766560" y="1371600"/>
            <a:ext cx="2011680" cy="640080"/>
          </a:xfrm>
          <a:prstGeom prst="rect">
            <a:avLst/>
          </a:prstGeom>
          <a:noFill/>
          <a:ln/>
        </p:spPr>
        <p:txBody>
          <a:bodyPr wrap="square" rtlCol="0" anchor="ctr"/>
          <a:lstStyle/>
          <a:p>
            <a:pPr algn="ctr" indent="0" marL="0">
              <a:buNone/>
            </a:pPr>
            <a:r>
              <a:rPr lang="en-US" sz="3200" b="1" dirty="0">
                <a:solidFill>
                  <a:srgbClr val="2E6DA4"/>
                </a:solidFill>
                <a:latin typeface="Georgia" pitchFamily="34" charset="0"/>
                <a:ea typeface="Georgia" pitchFamily="34" charset="-122"/>
                <a:cs typeface="Georgia" pitchFamily="34" charset="-120"/>
              </a:rPr>
              <a:t>33</a:t>
            </a:r>
            <a:endParaRPr lang="en-US" sz="3200" dirty="0"/>
          </a:p>
        </p:txBody>
      </p:sp>
      <p:sp>
        <p:nvSpPr>
          <p:cNvPr id="17" name="Text 15"/>
          <p:cNvSpPr/>
          <p:nvPr/>
        </p:nvSpPr>
        <p:spPr>
          <a:xfrm>
            <a:off x="6766560" y="1920240"/>
            <a:ext cx="2011680" cy="502920"/>
          </a:xfrm>
          <a:prstGeom prst="rect">
            <a:avLst/>
          </a:prstGeom>
          <a:noFill/>
          <a:ln/>
        </p:spPr>
        <p:txBody>
          <a:bodyPr wrap="square" rtlCol="0" anchor="ctr"/>
          <a:lstStyle/>
          <a:p>
            <a:pPr algn="ctr" indent="0" marL="0">
              <a:buNone/>
            </a:pPr>
            <a:r>
              <a:rPr lang="en-US" sz="1000" dirty="0">
                <a:solidFill>
                  <a:srgbClr val="6B7F95"/>
                </a:solidFill>
                <a:latin typeface="Calibri" pitchFamily="34" charset="0"/>
                <a:ea typeface="Calibri" pitchFamily="34" charset="-122"/>
                <a:cs typeface="Calibri" pitchFamily="34" charset="-120"/>
              </a:rPr>
              <a:t>post-period</a:t>
            </a:r>
            <a:endParaRPr lang="en-US" sz="1000" dirty="0"/>
          </a:p>
          <a:p>
            <a:pPr algn="ctr" indent="0" marL="0">
              <a:buNone/>
            </a:pPr>
            <a:r>
              <a:rPr lang="en-US" sz="1000" dirty="0">
                <a:solidFill>
                  <a:srgbClr val="6B7F95"/>
                </a:solidFill>
                <a:latin typeface="Calibri" pitchFamily="34" charset="0"/>
                <a:ea typeface="Calibri" pitchFamily="34" charset="-122"/>
                <a:cs typeface="Calibri" pitchFamily="34" charset="-120"/>
              </a:rPr>
              <a:t>1982 – 2014</a:t>
            </a:r>
            <a:endParaRPr lang="en-US" sz="1000" dirty="0"/>
          </a:p>
        </p:txBody>
      </p:sp>
      <p:sp>
        <p:nvSpPr>
          <p:cNvPr id="18" name="Text 16"/>
          <p:cNvSpPr/>
          <p:nvPr/>
        </p:nvSpPr>
        <p:spPr>
          <a:xfrm>
            <a:off x="457200" y="2651760"/>
            <a:ext cx="8229600" cy="320040"/>
          </a:xfrm>
          <a:prstGeom prst="rect">
            <a:avLst/>
          </a:prstGeom>
          <a:noFill/>
          <a:ln/>
        </p:spPr>
        <p:txBody>
          <a:bodyPr wrap="square" rtlCol="0" anchor="ctr"/>
          <a:lstStyle/>
          <a:p>
            <a:pPr indent="0" marL="0">
              <a:buNone/>
            </a:pPr>
            <a:r>
              <a:rPr lang="en-US" sz="1200" b="1" dirty="0">
                <a:solidFill>
                  <a:srgbClr val="1C3557"/>
                </a:solidFill>
                <a:latin typeface="Calibri" pitchFamily="34" charset="0"/>
                <a:ea typeface="Calibri" pitchFamily="34" charset="-122"/>
                <a:cs typeface="Calibri" pitchFamily="34" charset="-120"/>
              </a:rPr>
              <a:t>Outcome variables (state × year means)</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1828800"/>
        </p:xfrm>
        <a:graphic>
          <a:graphicData uri="http://schemas.openxmlformats.org/drawingml/2006/table">
            <a:tbl>
              <a:tblPr/>
              <a:tblGrid>
                <a:gridCol w="3200400"/>
                <a:gridCol w="2286000"/>
                <a:gridCol w="2743200"/>
              </a:tblGrid>
              <a:tr h="365760">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Outcome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Variable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Alaska pre-1982 mean</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r>
              <a:tr h="365760">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Employment rate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employed</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63.9%</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r h="365760">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Part-time rate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parttime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r h="365760">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LFP rate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activelf</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71.2%</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r h="365760">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Hours worked (MORG)</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hourslw</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indent="0" marL="0">
                        <a:buNone/>
                      </a:pPr>
                      <a:r>
                        <a:rPr lang="en-US" sz="1200" dirty="0">
                          <a:solidFill>
                            <a:srgbClr val="2C3E50"/>
                          </a:solidFill>
                          <a:latin typeface="Calibri" pitchFamily="34" charset="0"/>
                          <a:ea typeface="Calibri" pitchFamily="34" charset="-122"/>
                          <a:cs typeface="Calibri" pitchFamily="34" charset="-120"/>
                        </a:rPr>
                        <a:t>38.0 hrs/wk</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Result: employment</a:t>
            </a:r>
            <a:endParaRPr lang="en-US" sz="900" dirty="0"/>
          </a:p>
        </p:txBody>
      </p:sp>
      <p:sp>
        <p:nvSpPr>
          <p:cNvPr id="5" name="Text 3"/>
          <p:cNvSpPr/>
          <p:nvPr/>
        </p:nvSpPr>
        <p:spPr>
          <a:xfrm>
            <a:off x="457200" y="457200"/>
            <a:ext cx="8229600" cy="594360"/>
          </a:xfrm>
          <a:prstGeom prst="rect">
            <a:avLst/>
          </a:prstGeom>
          <a:noFill/>
          <a:ln/>
        </p:spPr>
        <p:txBody>
          <a:bodyPr wrap="square" rtlCol="0" anchor="t"/>
          <a:lstStyle/>
          <a:p>
            <a:pPr indent="0" marL="0">
              <a:buNone/>
            </a:pPr>
            <a:r>
              <a:rPr lang="en-US" sz="2200" b="1" dirty="0">
                <a:solidFill>
                  <a:srgbClr val="1C3557"/>
                </a:solidFill>
                <a:latin typeface="Georgia" pitchFamily="34" charset="0"/>
                <a:ea typeface="Georgia" pitchFamily="34" charset="-122"/>
                <a:cs typeface="Georgia" pitchFamily="34" charset="-120"/>
              </a:rPr>
              <a:t>Employment rate: Alaska tracks Synthetic Alaska post-1982</a:t>
            </a:r>
            <a:endParaRPr lang="en-US" sz="2200" dirty="0"/>
          </a:p>
        </p:txBody>
      </p:sp>
      <p:pic>
        <p:nvPicPr>
          <p:cNvPr id="6" name="Image 0" descr="preencoded.png">    </p:cNvPr>
          <p:cNvPicPr>
            <a:picLocks noChangeAspect="1"/>
          </p:cNvPicPr>
          <p:nvPr/>
        </p:nvPicPr>
        <p:blipFill>
          <a:blip r:embed="rId1"/>
          <a:stretch>
            <a:fillRect/>
          </a:stretch>
        </p:blipFill>
        <p:spPr>
          <a:xfrm>
            <a:off x="365760" y="1188720"/>
            <a:ext cx="5943600" cy="3657600"/>
          </a:xfrm>
          <a:prstGeom prst="rect">
            <a:avLst/>
          </a:prstGeom>
        </p:spPr>
      </p:pic>
      <p:sp>
        <p:nvSpPr>
          <p:cNvPr id="7" name="Shape 4"/>
          <p:cNvSpPr/>
          <p:nvPr/>
        </p:nvSpPr>
        <p:spPr>
          <a:xfrm>
            <a:off x="6492240" y="1188720"/>
            <a:ext cx="2377440" cy="1828800"/>
          </a:xfrm>
          <a:prstGeom prst="rect">
            <a:avLst/>
          </a:prstGeom>
          <a:solidFill>
            <a:srgbClr val="FFFFFF"/>
          </a:solidFill>
          <a:ln w="12700">
            <a:solidFill>
              <a:srgbClr val="D0DCE8"/>
            </a:solidFill>
            <a:prstDash val="solid"/>
          </a:ln>
        </p:spPr>
      </p:sp>
      <p:sp>
        <p:nvSpPr>
          <p:cNvPr id="8" name="Text 5"/>
          <p:cNvSpPr/>
          <p:nvPr/>
        </p:nvSpPr>
        <p:spPr>
          <a:xfrm>
            <a:off x="6583680" y="1280160"/>
            <a:ext cx="2194560" cy="274320"/>
          </a:xfrm>
          <a:prstGeom prst="rect">
            <a:avLst/>
          </a:prstGeom>
          <a:noFill/>
          <a:ln/>
        </p:spPr>
        <p:txBody>
          <a:bodyPr wrap="square" rtlCol="0" anchor="ctr"/>
          <a:lstStyle/>
          <a:p>
            <a:pPr indent="0" marL="0">
              <a:buNone/>
            </a:pPr>
            <a:r>
              <a:rPr lang="en-US" sz="1000" b="1" dirty="0">
                <a:solidFill>
                  <a:srgbClr val="6B7F95"/>
                </a:solidFill>
                <a:latin typeface="Calibri" pitchFamily="34" charset="0"/>
                <a:ea typeface="Calibri" pitchFamily="34" charset="-122"/>
                <a:cs typeface="Calibri" pitchFamily="34" charset="-120"/>
              </a:rPr>
              <a:t>Pre-period RMSE</a:t>
            </a:r>
            <a:endParaRPr lang="en-US" sz="1000" dirty="0"/>
          </a:p>
        </p:txBody>
      </p:sp>
      <p:sp>
        <p:nvSpPr>
          <p:cNvPr id="9" name="Text 6"/>
          <p:cNvSpPr/>
          <p:nvPr/>
        </p:nvSpPr>
        <p:spPr>
          <a:xfrm>
            <a:off x="6583680" y="1554480"/>
            <a:ext cx="2194560" cy="457200"/>
          </a:xfrm>
          <a:prstGeom prst="rect">
            <a:avLst/>
          </a:prstGeom>
          <a:noFill/>
          <a:ln/>
        </p:spPr>
        <p:txBody>
          <a:bodyPr wrap="square" rtlCol="0" anchor="ctr"/>
          <a:lstStyle/>
          <a:p>
            <a:pPr indent="0" marL="0">
              <a:buNone/>
            </a:pPr>
            <a:r>
              <a:rPr lang="en-US" sz="2200" b="1" dirty="0">
                <a:solidFill>
                  <a:srgbClr val="1A7A4A"/>
                </a:solidFill>
                <a:latin typeface="Georgia" pitchFamily="34" charset="0"/>
                <a:ea typeface="Georgia" pitchFamily="34" charset="-122"/>
                <a:cs typeface="Georgia" pitchFamily="34" charset="-120"/>
              </a:rPr>
              <a:t>0.0036</a:t>
            </a:r>
            <a:endParaRPr lang="en-US" sz="2200" dirty="0"/>
          </a:p>
        </p:txBody>
      </p:sp>
      <p:sp>
        <p:nvSpPr>
          <p:cNvPr id="10" name="Text 7"/>
          <p:cNvSpPr/>
          <p:nvPr/>
        </p:nvSpPr>
        <p:spPr>
          <a:xfrm>
            <a:off x="6583680" y="1965960"/>
            <a:ext cx="2194560" cy="36576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Tight pre-fit → credible counterfactual</a:t>
            </a:r>
            <a:endParaRPr lang="en-US" sz="1000" dirty="0"/>
          </a:p>
        </p:txBody>
      </p:sp>
      <p:sp>
        <p:nvSpPr>
          <p:cNvPr id="11" name="Shape 8"/>
          <p:cNvSpPr/>
          <p:nvPr/>
        </p:nvSpPr>
        <p:spPr>
          <a:xfrm>
            <a:off x="6492240" y="3200400"/>
            <a:ext cx="2377440" cy="1645920"/>
          </a:xfrm>
          <a:prstGeom prst="rect">
            <a:avLst/>
          </a:prstGeom>
          <a:solidFill>
            <a:srgbClr val="D6E8F7"/>
          </a:solidFill>
          <a:ln w="12700">
            <a:solidFill>
              <a:srgbClr val="D6E8F7"/>
            </a:solidFill>
            <a:prstDash val="solid"/>
          </a:ln>
        </p:spPr>
      </p:sp>
      <p:sp>
        <p:nvSpPr>
          <p:cNvPr id="12" name="Text 9"/>
          <p:cNvSpPr/>
          <p:nvPr/>
        </p:nvSpPr>
        <p:spPr>
          <a:xfrm>
            <a:off x="6583680" y="3291840"/>
            <a:ext cx="2194560" cy="457200"/>
          </a:xfrm>
          <a:prstGeom prst="rect">
            <a:avLst/>
          </a:prstGeom>
          <a:noFill/>
          <a:ln/>
        </p:spPr>
        <p:txBody>
          <a:bodyPr wrap="square" rtlCol="0" anchor="ctr"/>
          <a:lstStyle/>
          <a:p>
            <a:pPr indent="0" marL="0">
              <a:buNone/>
            </a:pPr>
            <a:r>
              <a:rPr lang="en-US" sz="1000" dirty="0">
                <a:solidFill>
                  <a:srgbClr val="6B7F95"/>
                </a:solidFill>
                <a:latin typeface="Calibri" pitchFamily="34" charset="0"/>
                <a:ea typeface="Calibri" pitchFamily="34" charset="-122"/>
                <a:cs typeface="Calibri" pitchFamily="34" charset="-120"/>
              </a:rPr>
              <a:t>Avg treatment</a:t>
            </a:r>
            <a:endParaRPr lang="en-US" sz="1000" dirty="0"/>
          </a:p>
          <a:p>
            <a:pPr indent="0" marL="0">
              <a:buNone/>
            </a:pPr>
            <a:r>
              <a:rPr lang="en-US" sz="1000" dirty="0">
                <a:solidFill>
                  <a:srgbClr val="6B7F95"/>
                </a:solidFill>
                <a:latin typeface="Calibri" pitchFamily="34" charset="0"/>
                <a:ea typeface="Calibri" pitchFamily="34" charset="-122"/>
                <a:cs typeface="Calibri" pitchFamily="34" charset="-120"/>
              </a:rPr>
              <a:t>effect (1982–2014)</a:t>
            </a:r>
            <a:endParaRPr lang="en-US" sz="1000" dirty="0"/>
          </a:p>
        </p:txBody>
      </p:sp>
      <p:sp>
        <p:nvSpPr>
          <p:cNvPr id="13" name="Text 10"/>
          <p:cNvSpPr/>
          <p:nvPr/>
        </p:nvSpPr>
        <p:spPr>
          <a:xfrm>
            <a:off x="6583680" y="3703320"/>
            <a:ext cx="2194560" cy="502920"/>
          </a:xfrm>
          <a:prstGeom prst="rect">
            <a:avLst/>
          </a:prstGeom>
          <a:noFill/>
          <a:ln/>
        </p:spPr>
        <p:txBody>
          <a:bodyPr wrap="square" rtlCol="0" anchor="ctr"/>
          <a:lstStyle/>
          <a:p>
            <a:pPr indent="0" marL="0">
              <a:buNone/>
            </a:pPr>
            <a:r>
              <a:rPr lang="en-US" sz="2400" b="1" dirty="0">
                <a:solidFill>
                  <a:srgbClr val="1C3557"/>
                </a:solidFill>
                <a:latin typeface="Georgia" pitchFamily="34" charset="0"/>
                <a:ea typeface="Georgia" pitchFamily="34" charset="-122"/>
                <a:cs typeface="Georgia" pitchFamily="34" charset="-120"/>
              </a:rPr>
              <a:t>+0.013</a:t>
            </a:r>
            <a:endParaRPr lang="en-US" sz="2400" dirty="0"/>
          </a:p>
        </p:txBody>
      </p:sp>
      <p:sp>
        <p:nvSpPr>
          <p:cNvPr id="14" name="Text 11"/>
          <p:cNvSpPr/>
          <p:nvPr/>
        </p:nvSpPr>
        <p:spPr>
          <a:xfrm>
            <a:off x="6583680" y="4160520"/>
            <a:ext cx="2194560" cy="365760"/>
          </a:xfrm>
          <a:prstGeom prst="rect">
            <a:avLst/>
          </a:prstGeom>
          <a:noFill/>
          <a:ln/>
        </p:spPr>
        <p:txBody>
          <a:bodyPr wrap="square" rtlCol="0" anchor="ctr"/>
          <a:lstStyle/>
          <a:p>
            <a:pPr indent="0" marL="0">
              <a:buNone/>
            </a:pPr>
            <a:r>
              <a:rPr lang="en-US" sz="1000" dirty="0">
                <a:solidFill>
                  <a:srgbClr val="6B7F95"/>
                </a:solidFill>
                <a:latin typeface="Calibri" pitchFamily="34" charset="0"/>
                <a:ea typeface="Calibri" pitchFamily="34" charset="-122"/>
                <a:cs typeface="Calibri" pitchFamily="34" charset="-120"/>
              </a:rPr>
              <a:t>p = 0.459 — not significant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Result: part-time work</a:t>
            </a:r>
            <a:endParaRPr lang="en-US" sz="900" dirty="0"/>
          </a:p>
        </p:txBody>
      </p:sp>
      <p:sp>
        <p:nvSpPr>
          <p:cNvPr id="5" name="Text 3"/>
          <p:cNvSpPr/>
          <p:nvPr/>
        </p:nvSpPr>
        <p:spPr>
          <a:xfrm>
            <a:off x="457200" y="457200"/>
            <a:ext cx="8229600" cy="594360"/>
          </a:xfrm>
          <a:prstGeom prst="rect">
            <a:avLst/>
          </a:prstGeom>
          <a:noFill/>
          <a:ln/>
        </p:spPr>
        <p:txBody>
          <a:bodyPr wrap="square" rtlCol="0" anchor="t"/>
          <a:lstStyle/>
          <a:p>
            <a:pPr indent="0" marL="0">
              <a:buNone/>
            </a:pPr>
            <a:r>
              <a:rPr lang="en-US" sz="2200" b="1" dirty="0">
                <a:solidFill>
                  <a:srgbClr val="1C3557"/>
                </a:solidFill>
                <a:latin typeface="Georgia" pitchFamily="34" charset="0"/>
                <a:ea typeface="Georgia" pitchFamily="34" charset="-122"/>
                <a:cs typeface="Georgia" pitchFamily="34" charset="-120"/>
              </a:rPr>
              <a:t>Part-time rate: Alaska diverges upward after 1982</a:t>
            </a:r>
            <a:endParaRPr lang="en-US" sz="2200" dirty="0"/>
          </a:p>
        </p:txBody>
      </p:sp>
      <p:pic>
        <p:nvPicPr>
          <p:cNvPr id="6" name="Image 0" descr="preencoded.png">    </p:cNvPr>
          <p:cNvPicPr>
            <a:picLocks noChangeAspect="1"/>
          </p:cNvPicPr>
          <p:nvPr/>
        </p:nvPicPr>
        <p:blipFill>
          <a:blip r:embed="rId1"/>
          <a:stretch>
            <a:fillRect/>
          </a:stretch>
        </p:blipFill>
        <p:spPr>
          <a:xfrm>
            <a:off x="365760" y="1188720"/>
            <a:ext cx="5943600" cy="3657600"/>
          </a:xfrm>
          <a:prstGeom prst="rect">
            <a:avLst/>
          </a:prstGeom>
        </p:spPr>
      </p:pic>
      <p:sp>
        <p:nvSpPr>
          <p:cNvPr id="7" name="Shape 4"/>
          <p:cNvSpPr/>
          <p:nvPr/>
        </p:nvSpPr>
        <p:spPr>
          <a:xfrm>
            <a:off x="6492240" y="1188720"/>
            <a:ext cx="2377440" cy="1828800"/>
          </a:xfrm>
          <a:prstGeom prst="rect">
            <a:avLst/>
          </a:prstGeom>
          <a:solidFill>
            <a:srgbClr val="FFFFFF"/>
          </a:solidFill>
          <a:ln w="12700">
            <a:solidFill>
              <a:srgbClr val="D0DCE8"/>
            </a:solidFill>
            <a:prstDash val="solid"/>
          </a:ln>
        </p:spPr>
      </p:sp>
      <p:sp>
        <p:nvSpPr>
          <p:cNvPr id="8" name="Text 5"/>
          <p:cNvSpPr/>
          <p:nvPr/>
        </p:nvSpPr>
        <p:spPr>
          <a:xfrm>
            <a:off x="6583680" y="1280160"/>
            <a:ext cx="2194560" cy="274320"/>
          </a:xfrm>
          <a:prstGeom prst="rect">
            <a:avLst/>
          </a:prstGeom>
          <a:noFill/>
          <a:ln/>
        </p:spPr>
        <p:txBody>
          <a:bodyPr wrap="square" rtlCol="0" anchor="ctr"/>
          <a:lstStyle/>
          <a:p>
            <a:pPr indent="0" marL="0">
              <a:buNone/>
            </a:pPr>
            <a:r>
              <a:rPr lang="en-US" sz="1000" b="1" dirty="0">
                <a:solidFill>
                  <a:srgbClr val="6B7F95"/>
                </a:solidFill>
                <a:latin typeface="Calibri" pitchFamily="34" charset="0"/>
                <a:ea typeface="Calibri" pitchFamily="34" charset="-122"/>
                <a:cs typeface="Calibri" pitchFamily="34" charset="-120"/>
              </a:rPr>
              <a:t>Avg treatment effect</a:t>
            </a:r>
            <a:endParaRPr lang="en-US" sz="1000" dirty="0"/>
          </a:p>
        </p:txBody>
      </p:sp>
      <p:sp>
        <p:nvSpPr>
          <p:cNvPr id="9" name="Text 6"/>
          <p:cNvSpPr/>
          <p:nvPr/>
        </p:nvSpPr>
        <p:spPr>
          <a:xfrm>
            <a:off x="6583680" y="1508760"/>
            <a:ext cx="2194560" cy="502920"/>
          </a:xfrm>
          <a:prstGeom prst="rect">
            <a:avLst/>
          </a:prstGeom>
          <a:noFill/>
          <a:ln/>
        </p:spPr>
        <p:txBody>
          <a:bodyPr wrap="square" rtlCol="0" anchor="ctr"/>
          <a:lstStyle/>
          <a:p>
            <a:pPr indent="0" marL="0">
              <a:buNone/>
            </a:pPr>
            <a:r>
              <a:rPr lang="en-US" sz="2400" b="1" dirty="0">
                <a:solidFill>
                  <a:srgbClr val="2E6DA4"/>
                </a:solidFill>
                <a:latin typeface="Georgia" pitchFamily="34" charset="0"/>
                <a:ea typeface="Georgia" pitchFamily="34" charset="-122"/>
                <a:cs typeface="Georgia" pitchFamily="34" charset="-120"/>
              </a:rPr>
              <a:t>+0.012</a:t>
            </a:r>
            <a:endParaRPr lang="en-US" sz="2400" dirty="0"/>
          </a:p>
        </p:txBody>
      </p:sp>
      <p:sp>
        <p:nvSpPr>
          <p:cNvPr id="10" name="Text 7"/>
          <p:cNvSpPr/>
          <p:nvPr/>
        </p:nvSpPr>
        <p:spPr>
          <a:xfrm>
            <a:off x="6583680" y="1965960"/>
            <a:ext cx="2194560" cy="411480"/>
          </a:xfrm>
          <a:prstGeom prst="rect">
            <a:avLst/>
          </a:prstGeom>
          <a:noFill/>
          <a:ln/>
        </p:spPr>
        <p:txBody>
          <a:bodyPr wrap="square" rtlCol="0" anchor="ctr"/>
          <a:lstStyle/>
          <a:p>
            <a:pPr indent="0" marL="0">
              <a:buNone/>
            </a:pPr>
            <a:r>
              <a:rPr lang="en-US" sz="1000" dirty="0">
                <a:solidFill>
                  <a:srgbClr val="6B7F95"/>
                </a:solidFill>
                <a:latin typeface="Calibri" pitchFamily="34" charset="0"/>
                <a:ea typeface="Calibri" pitchFamily="34" charset="-122"/>
                <a:cs typeface="Calibri" pitchFamily="34" charset="-120"/>
              </a:rPr>
              <a:t>Published: +0.018**</a:t>
            </a:r>
            <a:endParaRPr lang="en-US" sz="1000" dirty="0"/>
          </a:p>
          <a:p>
            <a:pPr indent="0" marL="0">
              <a:buNone/>
            </a:pPr>
            <a:r>
              <a:rPr lang="en-US" sz="1000" dirty="0">
                <a:solidFill>
                  <a:srgbClr val="6B7F95"/>
                </a:solidFill>
                <a:latin typeface="Calibri" pitchFamily="34" charset="0"/>
                <a:ea typeface="Calibri" pitchFamily="34" charset="-122"/>
                <a:cs typeface="Calibri" pitchFamily="34" charset="-120"/>
              </a:rPr>
              <a:t>(p = 0.020)</a:t>
            </a:r>
            <a:endParaRPr lang="en-US" sz="1000" dirty="0"/>
          </a:p>
        </p:txBody>
      </p:sp>
      <p:sp>
        <p:nvSpPr>
          <p:cNvPr id="11" name="Shape 8"/>
          <p:cNvSpPr/>
          <p:nvPr/>
        </p:nvSpPr>
        <p:spPr>
          <a:xfrm>
            <a:off x="6492240" y="3108960"/>
            <a:ext cx="2377440" cy="1737360"/>
          </a:xfrm>
          <a:prstGeom prst="rect">
            <a:avLst/>
          </a:prstGeom>
          <a:solidFill>
            <a:srgbClr val="FEF3F2"/>
          </a:solidFill>
          <a:ln w="12700">
            <a:solidFill>
              <a:srgbClr val="FECACA"/>
            </a:solidFill>
            <a:prstDash val="solid"/>
          </a:ln>
        </p:spPr>
      </p:sp>
      <p:sp>
        <p:nvSpPr>
          <p:cNvPr id="12" name="Text 9"/>
          <p:cNvSpPr/>
          <p:nvPr/>
        </p:nvSpPr>
        <p:spPr>
          <a:xfrm>
            <a:off x="6583680" y="3200400"/>
            <a:ext cx="2194560" cy="457200"/>
          </a:xfrm>
          <a:prstGeom prst="rect">
            <a:avLst/>
          </a:prstGeom>
          <a:noFill/>
          <a:ln/>
        </p:spPr>
        <p:txBody>
          <a:bodyPr wrap="square" rtlCol="0" anchor="ctr"/>
          <a:lstStyle/>
          <a:p>
            <a:pPr indent="0" marL="0">
              <a:buNone/>
            </a:pPr>
            <a:r>
              <a:rPr lang="en-US" sz="1000" dirty="0">
                <a:solidFill>
                  <a:srgbClr val="6B7F95"/>
                </a:solidFill>
                <a:latin typeface="Calibri" pitchFamily="34" charset="0"/>
                <a:ea typeface="Calibri" pitchFamily="34" charset="-122"/>
                <a:cs typeface="Calibri" pitchFamily="34" charset="-120"/>
              </a:rPr>
              <a:t>My p-value: 0.156</a:t>
            </a:r>
            <a:endParaRPr lang="en-US" sz="1000" dirty="0"/>
          </a:p>
          <a:p>
            <a:pPr indent="0" marL="0">
              <a:buNone/>
            </a:pPr>
            <a:r>
              <a:rPr lang="en-US" sz="1000" dirty="0">
                <a:solidFill>
                  <a:srgbClr val="6B7F95"/>
                </a:solidFill>
                <a:latin typeface="Calibri" pitchFamily="34" charset="0"/>
                <a:ea typeface="Calibri" pitchFamily="34" charset="-122"/>
                <a:cs typeface="Calibri" pitchFamily="34" charset="-120"/>
              </a:rPr>
              <a:t>~50 placebos</a:t>
            </a:r>
            <a:endParaRPr lang="en-US" sz="1000" dirty="0"/>
          </a:p>
        </p:txBody>
      </p:sp>
      <p:sp>
        <p:nvSpPr>
          <p:cNvPr id="13" name="Text 10"/>
          <p:cNvSpPr/>
          <p:nvPr/>
        </p:nvSpPr>
        <p:spPr>
          <a:xfrm>
            <a:off x="6583680" y="3611880"/>
            <a:ext cx="2194560" cy="457200"/>
          </a:xfrm>
          <a:prstGeom prst="rect">
            <a:avLst/>
          </a:prstGeom>
          <a:noFill/>
          <a:ln/>
        </p:spPr>
        <p:txBody>
          <a:bodyPr wrap="square" rtlCol="0" anchor="ctr"/>
          <a:lstStyle/>
          <a:p>
            <a:pPr indent="0" marL="0">
              <a:buNone/>
            </a:pPr>
            <a:r>
              <a:rPr lang="en-US" sz="1000" dirty="0">
                <a:solidFill>
                  <a:srgbClr val="C0392B"/>
                </a:solidFill>
                <a:latin typeface="Calibri" pitchFamily="34" charset="0"/>
                <a:ea typeface="Calibri" pitchFamily="34" charset="-122"/>
                <a:cs typeface="Calibri" pitchFamily="34" charset="-120"/>
              </a:rPr>
              <a:t>Paper: p = 0.020</a:t>
            </a:r>
            <a:endParaRPr lang="en-US" sz="1000" dirty="0"/>
          </a:p>
          <a:p>
            <a:pPr indent="0" marL="0">
              <a:buNone/>
            </a:pPr>
            <a:r>
              <a:rPr lang="en-US" sz="1000" dirty="0">
                <a:solidFill>
                  <a:srgbClr val="C0392B"/>
                </a:solidFill>
                <a:latin typeface="Calibri" pitchFamily="34" charset="0"/>
                <a:ea typeface="Calibri" pitchFamily="34" charset="-122"/>
                <a:cs typeface="Calibri" pitchFamily="34" charset="-120"/>
              </a:rPr>
              <a:t>1,836 placebos</a:t>
            </a:r>
            <a:endParaRPr lang="en-US" sz="1000" dirty="0"/>
          </a:p>
        </p:txBody>
      </p:sp>
      <p:sp>
        <p:nvSpPr>
          <p:cNvPr id="14" name="Text 11"/>
          <p:cNvSpPr/>
          <p:nvPr/>
        </p:nvSpPr>
        <p:spPr>
          <a:xfrm>
            <a:off x="6583680" y="4069080"/>
            <a:ext cx="2194560" cy="548640"/>
          </a:xfrm>
          <a:prstGeom prst="rect">
            <a:avLst/>
          </a:prstGeom>
          <a:noFill/>
          <a:ln/>
        </p:spPr>
        <p:txBody>
          <a:bodyPr wrap="square" rtlCol="0" anchor="ctr"/>
          <a:lstStyle/>
          <a:p>
            <a:pPr indent="0" marL="0">
              <a:buNone/>
            </a:pPr>
            <a:r>
              <a:rPr lang="en-US" sz="1000" dirty="0">
                <a:solidFill>
                  <a:srgbClr val="2C3E50"/>
                </a:solidFill>
                <a:latin typeface="Calibri" pitchFamily="34" charset="0"/>
                <a:ea typeface="Calibri" pitchFamily="34" charset="-122"/>
                <a:cs typeface="Calibri" pitchFamily="34" charset="-120"/>
              </a:rPr>
              <a:t>Same direction;</a:t>
            </a:r>
            <a:endParaRPr lang="en-US" sz="1000" dirty="0"/>
          </a:p>
          <a:p>
            <a:pPr indent="0" marL="0">
              <a:buNone/>
            </a:pPr>
            <a:r>
              <a:rPr lang="en-US" sz="1000" dirty="0">
                <a:solidFill>
                  <a:srgbClr val="2C3E50"/>
                </a:solidFill>
                <a:latin typeface="Calibri" pitchFamily="34" charset="0"/>
                <a:ea typeface="Calibri" pitchFamily="34" charset="-122"/>
                <a:cs typeface="Calibri" pitchFamily="34" charset="-120"/>
              </a:rPr>
              <a:t>differs in significance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Replication results</a:t>
            </a:r>
            <a:endParaRPr lang="en-US" sz="900" dirty="0"/>
          </a:p>
        </p:txBody>
      </p:sp>
      <p:sp>
        <p:nvSpPr>
          <p:cNvPr id="5" name="Text 3"/>
          <p:cNvSpPr/>
          <p:nvPr/>
        </p:nvSpPr>
        <p:spPr>
          <a:xfrm>
            <a:off x="457200" y="457200"/>
            <a:ext cx="8229600" cy="594360"/>
          </a:xfrm>
          <a:prstGeom prst="rect">
            <a:avLst/>
          </a:prstGeom>
          <a:noFill/>
          <a:ln/>
        </p:spPr>
        <p:txBody>
          <a:bodyPr wrap="square" rtlCol="0" anchor="t"/>
          <a:lstStyle/>
          <a:p>
            <a:pPr indent="0" marL="0">
              <a:buNone/>
            </a:pPr>
            <a:r>
              <a:rPr lang="en-US" sz="2600" b="1" dirty="0">
                <a:solidFill>
                  <a:srgbClr val="1C3557"/>
                </a:solidFill>
                <a:latin typeface="Georgia" pitchFamily="34" charset="0"/>
                <a:ea typeface="Georgia" pitchFamily="34" charset="-122"/>
                <a:cs typeface="Georgia" pitchFamily="34" charset="-120"/>
              </a:rPr>
              <a:t>Table 2 — All four outcomes</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1325880"/>
          <a:ext cx="8412480" cy="2926080"/>
        </p:xfrm>
        <a:graphic>
          <a:graphicData uri="http://schemas.openxmlformats.org/drawingml/2006/table">
            <a:tbl>
              <a:tblPr/>
              <a:tblGrid>
                <a:gridCol w="2468880"/>
                <a:gridCol w="2103120"/>
                <a:gridCol w="2103120"/>
                <a:gridCol w="1737360"/>
              </a:tblGrid>
              <a:tr h="585216">
                <a:tc>
                  <a:txBody>
                    <a:bodyPr/>
                    <a:lstStyle/>
                    <a:p>
                      <a:pPr indent="0" marL="0">
                        <a:buNone/>
                      </a:pPr>
                      <a:r>
                        <a:rPr lang="en-US" sz="1200" b="1" dirty="0">
                          <a:solidFill>
                            <a:srgbClr val="FFFFFF"/>
                          </a:solidFill>
                        </a:rPr>
                        <a:t>Outcome</a:t>
                      </a:r>
                      <a:endParaRPr lang="en-US" sz="12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c>
                  <a:txBody>
                    <a:bodyPr/>
                    <a:lstStyle/>
                    <a:p>
                      <a:pPr algn="ctr" indent="0" marL="0">
                        <a:buNone/>
                      </a:pPr>
                      <a:r>
                        <a:rPr lang="en-US" sz="1200" b="1" dirty="0">
                          <a:solidFill>
                            <a:srgbClr val="FFFFFF"/>
                          </a:solidFill>
                        </a:rPr>
                        <a:t>Published</a:t>
                      </a:r>
                      <a:endParaRPr lang="en-US" sz="12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c>
                  <a:txBody>
                    <a:bodyPr/>
                    <a:lstStyle/>
                    <a:p>
                      <a:pPr algn="ctr" indent="0" marL="0">
                        <a:buNone/>
                      </a:pPr>
                      <a:r>
                        <a:rPr lang="en-US" sz="1200" b="1" dirty="0">
                          <a:solidFill>
                            <a:srgbClr val="FFFFFF"/>
                          </a:solidFill>
                        </a:rPr>
                        <a:t>Replicated</a:t>
                      </a:r>
                      <a:endParaRPr lang="en-US" sz="12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c>
                  <a:txBody>
                    <a:bodyPr/>
                    <a:lstStyle/>
                    <a:p>
                      <a:pPr algn="ctr" indent="0" marL="0">
                        <a:buNone/>
                      </a:pPr>
                      <a:r>
                        <a:rPr lang="en-US" sz="1200" b="1" dirty="0">
                          <a:solidFill>
                            <a:srgbClr val="FFFFFF"/>
                          </a:solidFill>
                        </a:rPr>
                        <a:t>Conclusion</a:t>
                      </a:r>
                      <a:endParaRPr lang="en-US" sz="1200" dirty="0"/>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solidFill>
                      <a:srgbClr val="1C3557"/>
                    </a:solidFill>
                  </a:tcPr>
                </a:tc>
              </a:tr>
              <a:tr h="58521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Employment rate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0.001 (p=.942)</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0.013 (p=.459)</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b="1" dirty="0">
                          <a:solidFill>
                            <a:srgbClr val="1A7A4A"/>
                          </a:solidFill>
                          <a:latin typeface="Calibri" pitchFamily="34" charset="0"/>
                          <a:ea typeface="Calibri" pitchFamily="34" charset="-122"/>
                          <a:cs typeface="Calibri" pitchFamily="34" charset="-120"/>
                        </a:rPr>
                        <a:t>✓ Not significant</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r h="58521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Part-time rate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0.018** (p=.020)</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0.012 (p=.156)</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b="1" dirty="0">
                          <a:solidFill>
                            <a:srgbClr val="B7650A"/>
                          </a:solidFill>
                          <a:latin typeface="Calibri" pitchFamily="34" charset="0"/>
                          <a:ea typeface="Calibri" pitchFamily="34" charset="-122"/>
                          <a:cs typeface="Calibri" pitchFamily="34" charset="-120"/>
                        </a:rPr>
                        <a:t>Same direction</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r h="58521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LFP rate</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0.012 (p=.331)</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0.014 (p=.327)</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b="1" dirty="0">
                          <a:solidFill>
                            <a:srgbClr val="1A7A4A"/>
                          </a:solidFill>
                          <a:latin typeface="Calibri" pitchFamily="34" charset="0"/>
                          <a:ea typeface="Calibri" pitchFamily="34" charset="-122"/>
                          <a:cs typeface="Calibri" pitchFamily="34" charset="-120"/>
                        </a:rPr>
                        <a:t>✓ Near-identical</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r h="58521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Hours worked</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−0.796 (p=.084)</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dirty="0">
                          <a:solidFill>
                            <a:srgbClr val="000000"/>
                          </a:solidFill>
                          <a:latin typeface="Calibri" pitchFamily="34" charset="0"/>
                          <a:ea typeface="Calibri" pitchFamily="34" charset="-122"/>
                          <a:cs typeface="Calibri" pitchFamily="34" charset="-120"/>
                        </a:rPr>
                        <a:t>−0.474 (p=.280)</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c>
                  <a:txBody>
                    <a:bodyPr/>
                    <a:lstStyle/>
                    <a:p>
                      <a:pPr algn="ctr" indent="0" marL="0">
                        <a:buNone/>
                      </a:pPr>
                      <a:r>
                        <a:rPr lang="en-US" sz="1200" b="1" dirty="0">
                          <a:solidFill>
                            <a:srgbClr val="B7650A"/>
                          </a:solidFill>
                          <a:latin typeface="Calibri" pitchFamily="34" charset="0"/>
                          <a:ea typeface="Calibri" pitchFamily="34" charset="-122"/>
                          <a:cs typeface="Calibri" pitchFamily="34" charset="-120"/>
                        </a:rPr>
                        <a:t>Same direction</a:t>
                      </a:r>
                      <a:endParaRPr lang="en-US" sz="1200" dirty="0">
                        <a:latin typeface="Calibri" charset="0"/>
                        <a:ea typeface="Calibri" charset="0"/>
                        <a:cs typeface="Calibri" charset="0"/>
                      </a:endParaRPr>
                    </a:p>
                  </a:txBody>
                  <a:tcPr marL="91440" marR="91440" marT="45720" marB="45720">
                    <a:lnL w="6350" cap="flat" cmpd="sng" algn="ctr">
                      <a:solidFill>
                        <a:srgbClr val="D0DCE8"/>
                      </a:solidFill>
                      <a:prstDash val="solid"/>
                      <a:round/>
                      <a:headEnd type="none" w="med" len="med"/>
                      <a:tailEnd type="none" w="med" len="med"/>
                    </a:lnL>
                    <a:lnR w="6350" cap="flat" cmpd="sng" algn="ctr">
                      <a:solidFill>
                        <a:srgbClr val="D0DCE8"/>
                      </a:solidFill>
                      <a:prstDash val="solid"/>
                      <a:round/>
                      <a:headEnd type="none" w="med" len="med"/>
                      <a:tailEnd type="none" w="med" len="med"/>
                    </a:lnR>
                    <a:lnT w="6350" cap="flat" cmpd="sng" algn="ctr">
                      <a:solidFill>
                        <a:srgbClr val="D0DCE8"/>
                      </a:solidFill>
                      <a:prstDash val="solid"/>
                      <a:round/>
                      <a:headEnd type="none" w="med" len="med"/>
                      <a:tailEnd type="none" w="med" len="med"/>
                    </a:lnT>
                    <a:lnB w="6350" cap="flat" cmpd="sng" algn="ctr">
                      <a:solidFill>
                        <a:srgbClr val="D0DCE8"/>
                      </a:solidFill>
                      <a:prstDash val="solid"/>
                      <a:round/>
                      <a:headEnd type="none" w="med" len="med"/>
                      <a:tailEnd type="none" w="med" len="med"/>
                    </a:lnB>
                  </a:tcPr>
                </a:tc>
              </a:tr>
            </a:tbl>
          </a:graphicData>
        </a:graphic>
      </p:graphicFrame>
      <p:sp>
        <p:nvSpPr>
          <p:cNvPr id="7" name="Shape 4"/>
          <p:cNvSpPr/>
          <p:nvPr/>
        </p:nvSpPr>
        <p:spPr>
          <a:xfrm>
            <a:off x="365760" y="4434840"/>
            <a:ext cx="8412480" cy="502920"/>
          </a:xfrm>
          <a:prstGeom prst="rect">
            <a:avLst/>
          </a:prstGeom>
          <a:solidFill>
            <a:srgbClr val="D6E8F7"/>
          </a:solidFill>
          <a:ln w="12700">
            <a:solidFill>
              <a:srgbClr val="D6E8F7"/>
            </a:solidFill>
            <a:prstDash val="solid"/>
          </a:ln>
        </p:spPr>
      </p:sp>
      <p:sp>
        <p:nvSpPr>
          <p:cNvPr id="8" name="Text 5"/>
          <p:cNvSpPr/>
          <p:nvPr/>
        </p:nvSpPr>
        <p:spPr>
          <a:xfrm>
            <a:off x="365760" y="4434840"/>
            <a:ext cx="8412480" cy="502920"/>
          </a:xfrm>
          <a:prstGeom prst="rect">
            <a:avLst/>
          </a:prstGeom>
          <a:noFill/>
          <a:ln/>
        </p:spPr>
        <p:txBody>
          <a:bodyPr wrap="square" rtlCol="0" anchor="ctr"/>
          <a:lstStyle/>
          <a:p>
            <a:pPr algn="ctr" indent="0" marL="0">
              <a:buNone/>
            </a:pPr>
            <a:r>
              <a:rPr lang="en-US" sz="1200" b="1" dirty="0">
                <a:solidFill>
                  <a:srgbClr val="1C3557"/>
                </a:solidFill>
                <a:latin typeface="Calibri" pitchFamily="34" charset="0"/>
                <a:ea typeface="Calibri" pitchFamily="34" charset="-122"/>
                <a:cs typeface="Calibri" pitchFamily="34" charset="-120"/>
              </a:rPr>
              <a:t>Key finding: qualitative conclusion matches on all 4 outcomes — no significant employment reduction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7F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Shape 1"/>
          <p:cNvSpPr/>
          <p:nvPr/>
        </p:nvSpPr>
        <p:spPr>
          <a:xfrm>
            <a:off x="365760" y="118872"/>
            <a:ext cx="1371600" cy="256032"/>
          </a:xfrm>
          <a:prstGeom prst="roundRect">
            <a:avLst>
              <a:gd name="adj" fmla="val 17857"/>
            </a:avLst>
          </a:prstGeom>
          <a:solidFill>
            <a:srgbClr val="D6E8F7"/>
          </a:solidFill>
          <a:ln w="12700">
            <a:solidFill>
              <a:srgbClr val="D6E8F7"/>
            </a:solidFill>
            <a:prstDash val="solid"/>
          </a:ln>
        </p:spPr>
      </p:sp>
      <p:sp>
        <p:nvSpPr>
          <p:cNvPr id="4" name="Text 2"/>
          <p:cNvSpPr/>
          <p:nvPr/>
        </p:nvSpPr>
        <p:spPr>
          <a:xfrm>
            <a:off x="365760" y="118872"/>
            <a:ext cx="1371600" cy="256032"/>
          </a:xfrm>
          <a:prstGeom prst="rect">
            <a:avLst/>
          </a:prstGeom>
          <a:noFill/>
          <a:ln/>
        </p:spPr>
        <p:txBody>
          <a:bodyPr wrap="square" lIns="0" tIns="0" rIns="0" bIns="0" rtlCol="0" anchor="ctr"/>
          <a:lstStyle/>
          <a:p>
            <a:pPr algn="ctr" indent="0" marL="0">
              <a:buNone/>
            </a:pPr>
            <a:r>
              <a:rPr lang="en-US" sz="900" b="1" dirty="0">
                <a:solidFill>
                  <a:srgbClr val="2E6DA4"/>
                </a:solidFill>
                <a:latin typeface="Calibri" pitchFamily="34" charset="0"/>
                <a:ea typeface="Calibri" pitchFamily="34" charset="-122"/>
                <a:cs typeface="Calibri" pitchFamily="34" charset="-120"/>
              </a:rPr>
              <a:t>Interpretation</a:t>
            </a:r>
            <a:endParaRPr lang="en-US" sz="900" dirty="0"/>
          </a:p>
        </p:txBody>
      </p:sp>
      <p:sp>
        <p:nvSpPr>
          <p:cNvPr id="5" name="Text 3"/>
          <p:cNvSpPr/>
          <p:nvPr/>
        </p:nvSpPr>
        <p:spPr>
          <a:xfrm>
            <a:off x="457200" y="457200"/>
            <a:ext cx="8229600" cy="594360"/>
          </a:xfrm>
          <a:prstGeom prst="rect">
            <a:avLst/>
          </a:prstGeom>
          <a:noFill/>
          <a:ln/>
        </p:spPr>
        <p:txBody>
          <a:bodyPr wrap="square" rtlCol="0" anchor="t"/>
          <a:lstStyle/>
          <a:p>
            <a:pPr indent="0" marL="0">
              <a:buNone/>
            </a:pPr>
            <a:r>
              <a:rPr lang="en-US" sz="2600" b="1" dirty="0">
                <a:solidFill>
                  <a:srgbClr val="1C3557"/>
                </a:solidFill>
                <a:latin typeface="Georgia" pitchFamily="34" charset="0"/>
                <a:ea typeface="Georgia" pitchFamily="34" charset="-122"/>
                <a:cs typeface="Georgia" pitchFamily="34" charset="-120"/>
              </a:rPr>
              <a:t>Why doesn't cash reduce employment?</a:t>
            </a:r>
            <a:endParaRPr lang="en-US" sz="2600" dirty="0"/>
          </a:p>
        </p:txBody>
      </p:sp>
      <p:sp>
        <p:nvSpPr>
          <p:cNvPr id="6" name="Shape 4"/>
          <p:cNvSpPr/>
          <p:nvPr/>
        </p:nvSpPr>
        <p:spPr>
          <a:xfrm>
            <a:off x="320040" y="1325880"/>
            <a:ext cx="3977640" cy="2103120"/>
          </a:xfrm>
          <a:prstGeom prst="rect">
            <a:avLst/>
          </a:prstGeom>
          <a:solidFill>
            <a:srgbClr val="FFFFFF"/>
          </a:solidFill>
          <a:ln w="12700">
            <a:solidFill>
              <a:srgbClr val="D0DCE8"/>
            </a:solidFill>
            <a:prstDash val="solid"/>
          </a:ln>
        </p:spPr>
      </p:sp>
      <p:sp>
        <p:nvSpPr>
          <p:cNvPr id="7" name="Text 5"/>
          <p:cNvSpPr/>
          <p:nvPr/>
        </p:nvSpPr>
        <p:spPr>
          <a:xfrm>
            <a:off x="457200" y="1417320"/>
            <a:ext cx="3657600" cy="32004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Income effect (micro)</a:t>
            </a:r>
            <a:endParaRPr lang="en-US" sz="1300" dirty="0"/>
          </a:p>
        </p:txBody>
      </p:sp>
      <p:sp>
        <p:nvSpPr>
          <p:cNvPr id="8" name="Text 6"/>
          <p:cNvSpPr/>
          <p:nvPr/>
        </p:nvSpPr>
        <p:spPr>
          <a:xfrm>
            <a:off x="457200" y="1783080"/>
            <a:ext cx="3657600" cy="146304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Richer → buy more leisure → work less</a:t>
            </a:r>
            <a:endParaRPr lang="en-US" sz="1300" dirty="0"/>
          </a:p>
          <a:p>
            <a:pPr indent="0" marL="0">
              <a:buNone/>
            </a:pPr>
            <a:r>
              <a:rPr lang="en-US" sz="1300" dirty="0">
                <a:solidFill>
                  <a:srgbClr val="2C3E50"/>
                </a:solidFill>
                <a:latin typeface="Calibri" pitchFamily="34" charset="0"/>
                <a:ea typeface="Calibri" pitchFamily="34" charset="-122"/>
                <a:cs typeface="Calibri" pitchFamily="34" charset="-120"/>
              </a:rPr>
              <a:t>Estimated: −0.6 pp employment</a:t>
            </a:r>
            <a:endParaRPr lang="en-US" sz="1300" dirty="0"/>
          </a:p>
        </p:txBody>
      </p:sp>
      <p:sp>
        <p:nvSpPr>
          <p:cNvPr id="9" name="Text 7"/>
          <p:cNvSpPr/>
          <p:nvPr/>
        </p:nvSpPr>
        <p:spPr>
          <a:xfrm>
            <a:off x="4315968" y="2011680"/>
            <a:ext cx="457200" cy="640080"/>
          </a:xfrm>
          <a:prstGeom prst="rect">
            <a:avLst/>
          </a:prstGeom>
          <a:noFill/>
          <a:ln/>
        </p:spPr>
        <p:txBody>
          <a:bodyPr wrap="square" rtlCol="0" anchor="ctr"/>
          <a:lstStyle/>
          <a:p>
            <a:pPr algn="ctr" indent="0" marL="0">
              <a:buNone/>
            </a:pPr>
            <a:r>
              <a:rPr lang="en-US" sz="2800" b="1" dirty="0">
                <a:solidFill>
                  <a:srgbClr val="6B7F95"/>
                </a:solidFill>
                <a:latin typeface="Georgia" pitchFamily="34" charset="0"/>
                <a:ea typeface="Georgia" pitchFamily="34" charset="-122"/>
                <a:cs typeface="Georgia" pitchFamily="34" charset="-120"/>
              </a:rPr>
              <a:t>+</a:t>
            </a:r>
            <a:endParaRPr lang="en-US" sz="2800" dirty="0"/>
          </a:p>
        </p:txBody>
      </p:sp>
      <p:sp>
        <p:nvSpPr>
          <p:cNvPr id="10" name="Shape 8"/>
          <p:cNvSpPr/>
          <p:nvPr/>
        </p:nvSpPr>
        <p:spPr>
          <a:xfrm>
            <a:off x="4846320" y="1325880"/>
            <a:ext cx="3977640" cy="2103120"/>
          </a:xfrm>
          <a:prstGeom prst="rect">
            <a:avLst/>
          </a:prstGeom>
          <a:solidFill>
            <a:srgbClr val="FFFFFF"/>
          </a:solidFill>
          <a:ln w="12700">
            <a:solidFill>
              <a:srgbClr val="D0DCE8"/>
            </a:solidFill>
            <a:prstDash val="solid"/>
          </a:ln>
        </p:spPr>
      </p:sp>
      <p:sp>
        <p:nvSpPr>
          <p:cNvPr id="11" name="Text 9"/>
          <p:cNvSpPr/>
          <p:nvPr/>
        </p:nvSpPr>
        <p:spPr>
          <a:xfrm>
            <a:off x="4983480" y="1417320"/>
            <a:ext cx="3657600" cy="320040"/>
          </a:xfrm>
          <a:prstGeom prst="rect">
            <a:avLst/>
          </a:prstGeom>
          <a:noFill/>
          <a:ln/>
        </p:spPr>
        <p:txBody>
          <a:bodyPr wrap="square" rtlCol="0" anchor="ctr"/>
          <a:lstStyle/>
          <a:p>
            <a:pPr indent="0" marL="0">
              <a:buNone/>
            </a:pPr>
            <a:r>
              <a:rPr lang="en-US" sz="1300" b="1" dirty="0">
                <a:solidFill>
                  <a:srgbClr val="1A7A4A"/>
                </a:solidFill>
                <a:latin typeface="Calibri" pitchFamily="34" charset="0"/>
                <a:ea typeface="Calibri" pitchFamily="34" charset="-122"/>
                <a:cs typeface="Calibri" pitchFamily="34" charset="-120"/>
              </a:rPr>
              <a:t>Demand effect (macro)</a:t>
            </a:r>
            <a:endParaRPr lang="en-US" sz="1300" dirty="0"/>
          </a:p>
        </p:txBody>
      </p:sp>
      <p:sp>
        <p:nvSpPr>
          <p:cNvPr id="12" name="Text 10"/>
          <p:cNvSpPr/>
          <p:nvPr/>
        </p:nvSpPr>
        <p:spPr>
          <a:xfrm>
            <a:off x="4983480" y="1783080"/>
            <a:ext cx="3657600" cy="1463040"/>
          </a:xfrm>
          <a:prstGeom prst="rect">
            <a:avLst/>
          </a:prstGeom>
          <a:noFill/>
          <a:ln/>
        </p:spPr>
        <p:txBody>
          <a:bodyPr wrap="square" rtlCol="0" anchor="ctr"/>
          <a:lstStyle/>
          <a:p>
            <a:pPr indent="0" marL="0">
              <a:buNone/>
            </a:pPr>
            <a:r>
              <a:rPr lang="en-US" sz="1300" dirty="0">
                <a:solidFill>
                  <a:srgbClr val="2C3E50"/>
                </a:solidFill>
                <a:latin typeface="Calibri" pitchFamily="34" charset="0"/>
                <a:ea typeface="Calibri" pitchFamily="34" charset="-122"/>
                <a:cs typeface="Calibri" pitchFamily="34" charset="-120"/>
              </a:rPr>
              <a:t>Everyone spends dividend locally → demand for goods → more jobs</a:t>
            </a:r>
            <a:endParaRPr lang="en-US" sz="1300" dirty="0"/>
          </a:p>
          <a:p>
            <a:pPr indent="0" marL="0">
              <a:buNone/>
            </a:pPr>
            <a:r>
              <a:rPr lang="en-US" sz="1300" dirty="0">
                <a:solidFill>
                  <a:srgbClr val="2C3E50"/>
                </a:solidFill>
                <a:latin typeface="Calibri" pitchFamily="34" charset="0"/>
                <a:ea typeface="Calibri" pitchFamily="34" charset="-122"/>
                <a:cs typeface="Calibri" pitchFamily="34" charset="-120"/>
              </a:rPr>
              <a:t>Estimated: +0.5 pp employment</a:t>
            </a:r>
            <a:endParaRPr lang="en-US" sz="1300" dirty="0"/>
          </a:p>
        </p:txBody>
      </p:sp>
      <p:sp>
        <p:nvSpPr>
          <p:cNvPr id="13" name="Shape 11"/>
          <p:cNvSpPr/>
          <p:nvPr/>
        </p:nvSpPr>
        <p:spPr>
          <a:xfrm>
            <a:off x="2286000" y="3611880"/>
            <a:ext cx="4572000" cy="685800"/>
          </a:xfrm>
          <a:prstGeom prst="rect">
            <a:avLst/>
          </a:prstGeom>
          <a:solidFill>
            <a:srgbClr val="2E6DA4"/>
          </a:solidFill>
          <a:ln w="12700">
            <a:solidFill>
              <a:srgbClr val="2E6DA4"/>
            </a:solidFill>
            <a:prstDash val="solid"/>
          </a:ln>
        </p:spPr>
      </p:sp>
      <p:sp>
        <p:nvSpPr>
          <p:cNvPr id="14" name="Text 12"/>
          <p:cNvSpPr/>
          <p:nvPr/>
        </p:nvSpPr>
        <p:spPr>
          <a:xfrm>
            <a:off x="2286000" y="3611880"/>
            <a:ext cx="4572000" cy="685800"/>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Net effect ≈ 0  →  null employment result</a:t>
            </a:r>
            <a:endParaRPr lang="en-US" sz="1400" dirty="0"/>
          </a:p>
        </p:txBody>
      </p:sp>
      <p:sp>
        <p:nvSpPr>
          <p:cNvPr id="15" name="Text 13"/>
          <p:cNvSpPr/>
          <p:nvPr/>
        </p:nvSpPr>
        <p:spPr>
          <a:xfrm>
            <a:off x="365760" y="4480560"/>
            <a:ext cx="8412480" cy="502920"/>
          </a:xfrm>
          <a:prstGeom prst="rect">
            <a:avLst/>
          </a:prstGeom>
          <a:noFill/>
          <a:ln/>
        </p:spPr>
        <p:txBody>
          <a:bodyPr wrap="square" rtlCol="0" anchor="ctr"/>
          <a:lstStyle/>
          <a:p>
            <a:pPr algn="ctr" indent="0" marL="0">
              <a:buNone/>
            </a:pPr>
            <a:r>
              <a:rPr lang="en-US" sz="1100" dirty="0">
                <a:solidFill>
                  <a:srgbClr val="6B7F95"/>
                </a:solidFill>
                <a:latin typeface="Calibri" pitchFamily="34" charset="0"/>
                <a:ea typeface="Calibri" pitchFamily="34" charset="-122"/>
                <a:cs typeface="Calibri" pitchFamily="34" charset="-120"/>
              </a:rPr>
              <a:t>Part-time shift: income effect shows up on hours (intensive margin), not employment (extensive margin)</a:t>
            </a:r>
            <a:endParaRPr lang="en-US" sz="1100" dirty="0"/>
          </a:p>
          <a:p>
            <a:pPr algn="ctr" indent="0" marL="0">
              <a:buNone/>
            </a:pPr>
            <a:r>
              <a:rPr lang="en-US" sz="1100" dirty="0">
                <a:solidFill>
                  <a:srgbClr val="6B7F95"/>
                </a:solidFill>
                <a:latin typeface="Calibri" pitchFamily="34" charset="0"/>
                <a:ea typeface="Calibri" pitchFamily="34" charset="-122"/>
                <a:cs typeface="Calibri" pitchFamily="34" charset="-120"/>
              </a:rPr>
              <a:t>— especially married women cutting hours voluntarily</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C3557"/>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2E6DA4"/>
          </a:solidFill>
          <a:ln w="12700">
            <a:solidFill>
              <a:srgbClr val="2E6DA4"/>
            </a:solidFill>
            <a:prstDash val="solid"/>
          </a:ln>
        </p:spPr>
      </p:sp>
      <p:sp>
        <p:nvSpPr>
          <p:cNvPr id="3" name="Text 1"/>
          <p:cNvSpPr/>
          <p:nvPr/>
        </p:nvSpPr>
        <p:spPr>
          <a:xfrm>
            <a:off x="457200" y="274320"/>
            <a:ext cx="8229600" cy="548640"/>
          </a:xfrm>
          <a:prstGeom prst="rect">
            <a:avLst/>
          </a:prstGeom>
          <a:noFill/>
          <a:ln/>
        </p:spPr>
        <p:txBody>
          <a:bodyPr wrap="square" rtlCol="0" anchor="t"/>
          <a:lstStyle/>
          <a:p>
            <a:pPr indent="0" marL="0">
              <a:buNone/>
            </a:pPr>
            <a:r>
              <a:rPr lang="en-US" sz="3200" b="1" dirty="0">
                <a:solidFill>
                  <a:srgbClr val="FFFFFF"/>
                </a:solidFill>
                <a:latin typeface="Georgia" pitchFamily="34" charset="0"/>
                <a:ea typeface="Georgia" pitchFamily="34" charset="-122"/>
                <a:cs typeface="Georgia" pitchFamily="34" charset="-120"/>
              </a:rPr>
              <a:t>Takeaways</a:t>
            </a:r>
            <a:endParaRPr lang="en-US" sz="3200" dirty="0"/>
          </a:p>
        </p:txBody>
      </p:sp>
      <p:sp>
        <p:nvSpPr>
          <p:cNvPr id="4" name="Shape 2"/>
          <p:cNvSpPr/>
          <p:nvPr/>
        </p:nvSpPr>
        <p:spPr>
          <a:xfrm>
            <a:off x="365760" y="1051560"/>
            <a:ext cx="4206240" cy="1600200"/>
          </a:xfrm>
          <a:prstGeom prst="rect">
            <a:avLst/>
          </a:prstGeom>
          <a:solidFill>
            <a:srgbClr val="FFFFFF">
              <a:alpha val="8000"/>
            </a:srgbClr>
          </a:solidFill>
          <a:ln w="12700">
            <a:solidFill>
              <a:srgbClr val="FFFFFF">
                <a:alpha val="30000"/>
              </a:srgbClr>
            </a:solidFill>
            <a:prstDash val="solid"/>
          </a:ln>
        </p:spPr>
      </p:sp>
      <p:sp>
        <p:nvSpPr>
          <p:cNvPr id="5" name="Text 3"/>
          <p:cNvSpPr/>
          <p:nvPr/>
        </p:nvSpPr>
        <p:spPr>
          <a:xfrm>
            <a:off x="502920" y="1143000"/>
            <a:ext cx="548640" cy="411480"/>
          </a:xfrm>
          <a:prstGeom prst="rect">
            <a:avLst/>
          </a:prstGeom>
          <a:noFill/>
          <a:ln/>
        </p:spPr>
        <p:txBody>
          <a:bodyPr wrap="square"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01</a:t>
            </a:r>
            <a:endParaRPr lang="en-US" sz="1100" dirty="0"/>
          </a:p>
        </p:txBody>
      </p:sp>
      <p:sp>
        <p:nvSpPr>
          <p:cNvPr id="6" name="Text 4"/>
          <p:cNvSpPr/>
          <p:nvPr/>
        </p:nvSpPr>
        <p:spPr>
          <a:xfrm>
            <a:off x="502920" y="1463040"/>
            <a:ext cx="39319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No employment effect</a:t>
            </a:r>
            <a:endParaRPr lang="en-US" sz="1300" dirty="0"/>
          </a:p>
        </p:txBody>
      </p:sp>
      <p:sp>
        <p:nvSpPr>
          <p:cNvPr id="7" name="Text 5"/>
          <p:cNvSpPr/>
          <p:nvPr/>
        </p:nvSpPr>
        <p:spPr>
          <a:xfrm>
            <a:off x="502920" y="1828800"/>
            <a:ext cx="3931920" cy="685800"/>
          </a:xfrm>
          <a:prstGeom prst="rect">
            <a:avLst/>
          </a:prstGeom>
          <a:noFill/>
          <a:ln/>
        </p:spPr>
        <p:txBody>
          <a:bodyPr wrap="square" rtlCol="0" anchor="t"/>
          <a:lstStyle/>
          <a:p>
            <a:pPr indent="0" marL="0">
              <a:buNone/>
            </a:pPr>
            <a:r>
              <a:rPr lang="en-US" sz="1200" dirty="0">
                <a:solidFill>
                  <a:srgbClr val="D6E8F7"/>
                </a:solidFill>
                <a:latin typeface="Calibri" pitchFamily="34" charset="0"/>
                <a:ea typeface="Calibri" pitchFamily="34" charset="-122"/>
                <a:cs typeface="Calibri" pitchFamily="34" charset="-120"/>
              </a:rPr>
              <a:t>Universal cash transfers don't reduce work — GE demand effects offset the income effect</a:t>
            </a:r>
            <a:endParaRPr lang="en-US" sz="1200" dirty="0"/>
          </a:p>
        </p:txBody>
      </p:sp>
      <p:sp>
        <p:nvSpPr>
          <p:cNvPr id="8" name="Shape 6"/>
          <p:cNvSpPr/>
          <p:nvPr/>
        </p:nvSpPr>
        <p:spPr>
          <a:xfrm>
            <a:off x="4800600" y="1051560"/>
            <a:ext cx="4206240" cy="1600200"/>
          </a:xfrm>
          <a:prstGeom prst="rect">
            <a:avLst/>
          </a:prstGeom>
          <a:solidFill>
            <a:srgbClr val="FFFFFF">
              <a:alpha val="8000"/>
            </a:srgbClr>
          </a:solidFill>
          <a:ln w="12700">
            <a:solidFill>
              <a:srgbClr val="FFFFFF">
                <a:alpha val="30000"/>
              </a:srgbClr>
            </a:solidFill>
            <a:prstDash val="solid"/>
          </a:ln>
        </p:spPr>
      </p:sp>
      <p:sp>
        <p:nvSpPr>
          <p:cNvPr id="9" name="Text 7"/>
          <p:cNvSpPr/>
          <p:nvPr/>
        </p:nvSpPr>
        <p:spPr>
          <a:xfrm>
            <a:off x="4937760" y="1143000"/>
            <a:ext cx="548640" cy="411480"/>
          </a:xfrm>
          <a:prstGeom prst="rect">
            <a:avLst/>
          </a:prstGeom>
          <a:noFill/>
          <a:ln/>
        </p:spPr>
        <p:txBody>
          <a:bodyPr wrap="square"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02</a:t>
            </a:r>
            <a:endParaRPr lang="en-US" sz="1100" dirty="0"/>
          </a:p>
        </p:txBody>
      </p:sp>
      <p:sp>
        <p:nvSpPr>
          <p:cNvPr id="10" name="Text 8"/>
          <p:cNvSpPr/>
          <p:nvPr/>
        </p:nvSpPr>
        <p:spPr>
          <a:xfrm>
            <a:off x="4937760" y="1463040"/>
            <a:ext cx="39319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Hours, not jobs</a:t>
            </a:r>
            <a:endParaRPr lang="en-US" sz="1300" dirty="0"/>
          </a:p>
        </p:txBody>
      </p:sp>
      <p:sp>
        <p:nvSpPr>
          <p:cNvPr id="11" name="Text 9"/>
          <p:cNvSpPr/>
          <p:nvPr/>
        </p:nvSpPr>
        <p:spPr>
          <a:xfrm>
            <a:off x="4937760" y="1828800"/>
            <a:ext cx="3931920" cy="685800"/>
          </a:xfrm>
          <a:prstGeom prst="rect">
            <a:avLst/>
          </a:prstGeom>
          <a:noFill/>
          <a:ln/>
        </p:spPr>
        <p:txBody>
          <a:bodyPr wrap="square" rtlCol="0" anchor="t"/>
          <a:lstStyle/>
          <a:p>
            <a:pPr indent="0" marL="0">
              <a:buNone/>
            </a:pPr>
            <a:r>
              <a:rPr lang="en-US" sz="1200" dirty="0">
                <a:solidFill>
                  <a:srgbClr val="D6E8F7"/>
                </a:solidFill>
                <a:latin typeface="Calibri" pitchFamily="34" charset="0"/>
                <a:ea typeface="Calibri" pitchFamily="34" charset="-122"/>
                <a:cs typeface="Calibri" pitchFamily="34" charset="-120"/>
              </a:rPr>
              <a:t>Income effects show on the intensive margin (part-time shift), not the extensive margin</a:t>
            </a:r>
            <a:endParaRPr lang="en-US" sz="1200" dirty="0"/>
          </a:p>
        </p:txBody>
      </p:sp>
      <p:sp>
        <p:nvSpPr>
          <p:cNvPr id="12" name="Shape 10"/>
          <p:cNvSpPr/>
          <p:nvPr/>
        </p:nvSpPr>
        <p:spPr>
          <a:xfrm>
            <a:off x="365760" y="2880360"/>
            <a:ext cx="4206240" cy="1600200"/>
          </a:xfrm>
          <a:prstGeom prst="rect">
            <a:avLst/>
          </a:prstGeom>
          <a:solidFill>
            <a:srgbClr val="FFFFFF">
              <a:alpha val="8000"/>
            </a:srgbClr>
          </a:solidFill>
          <a:ln w="12700">
            <a:solidFill>
              <a:srgbClr val="FFFFFF">
                <a:alpha val="30000"/>
              </a:srgbClr>
            </a:solidFill>
            <a:prstDash val="solid"/>
          </a:ln>
        </p:spPr>
      </p:sp>
      <p:sp>
        <p:nvSpPr>
          <p:cNvPr id="13" name="Text 11"/>
          <p:cNvSpPr/>
          <p:nvPr/>
        </p:nvSpPr>
        <p:spPr>
          <a:xfrm>
            <a:off x="502920" y="2971800"/>
            <a:ext cx="548640" cy="411480"/>
          </a:xfrm>
          <a:prstGeom prst="rect">
            <a:avLst/>
          </a:prstGeom>
          <a:noFill/>
          <a:ln/>
        </p:spPr>
        <p:txBody>
          <a:bodyPr wrap="square"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03</a:t>
            </a:r>
            <a:endParaRPr lang="en-US" sz="1100" dirty="0"/>
          </a:p>
        </p:txBody>
      </p:sp>
      <p:sp>
        <p:nvSpPr>
          <p:cNvPr id="14" name="Text 12"/>
          <p:cNvSpPr/>
          <p:nvPr/>
        </p:nvSpPr>
        <p:spPr>
          <a:xfrm>
            <a:off x="502920" y="3291840"/>
            <a:ext cx="39319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UBI policy implication</a:t>
            </a:r>
            <a:endParaRPr lang="en-US" sz="1300" dirty="0"/>
          </a:p>
        </p:txBody>
      </p:sp>
      <p:sp>
        <p:nvSpPr>
          <p:cNvPr id="15" name="Text 13"/>
          <p:cNvSpPr/>
          <p:nvPr/>
        </p:nvSpPr>
        <p:spPr>
          <a:xfrm>
            <a:off x="502920" y="3657600"/>
            <a:ext cx="3931920" cy="685800"/>
          </a:xfrm>
          <a:prstGeom prst="rect">
            <a:avLst/>
          </a:prstGeom>
          <a:noFill/>
          <a:ln/>
        </p:spPr>
        <p:txBody>
          <a:bodyPr wrap="square" rtlCol="0" anchor="t"/>
          <a:lstStyle/>
          <a:p>
            <a:pPr indent="0" marL="0">
              <a:buNone/>
            </a:pPr>
            <a:r>
              <a:rPr lang="en-US" sz="1200" dirty="0">
                <a:solidFill>
                  <a:srgbClr val="D6E8F7"/>
                </a:solidFill>
                <a:latin typeface="Calibri" pitchFamily="34" charset="0"/>
                <a:ea typeface="Calibri" pitchFamily="34" charset="-122"/>
                <a:cs typeface="Calibri" pitchFamily="34" charset="-120"/>
              </a:rPr>
              <a:t>Macro effects of universal programs may be much smaller than micro labor-supply models predict</a:t>
            </a:r>
            <a:endParaRPr lang="en-US" sz="1200" dirty="0"/>
          </a:p>
        </p:txBody>
      </p:sp>
      <p:sp>
        <p:nvSpPr>
          <p:cNvPr id="16" name="Shape 14"/>
          <p:cNvSpPr/>
          <p:nvPr/>
        </p:nvSpPr>
        <p:spPr>
          <a:xfrm>
            <a:off x="4800600" y="2880360"/>
            <a:ext cx="4206240" cy="1600200"/>
          </a:xfrm>
          <a:prstGeom prst="rect">
            <a:avLst/>
          </a:prstGeom>
          <a:solidFill>
            <a:srgbClr val="FFFFFF">
              <a:alpha val="8000"/>
            </a:srgbClr>
          </a:solidFill>
          <a:ln w="12700">
            <a:solidFill>
              <a:srgbClr val="FFFFFF">
                <a:alpha val="30000"/>
              </a:srgbClr>
            </a:solidFill>
            <a:prstDash val="solid"/>
          </a:ln>
        </p:spPr>
      </p:sp>
      <p:sp>
        <p:nvSpPr>
          <p:cNvPr id="17" name="Text 15"/>
          <p:cNvSpPr/>
          <p:nvPr/>
        </p:nvSpPr>
        <p:spPr>
          <a:xfrm>
            <a:off x="4937760" y="2971800"/>
            <a:ext cx="548640" cy="411480"/>
          </a:xfrm>
          <a:prstGeom prst="rect">
            <a:avLst/>
          </a:prstGeom>
          <a:noFill/>
          <a:ln/>
        </p:spPr>
        <p:txBody>
          <a:bodyPr wrap="square" rtlCol="0" anchor="ctr"/>
          <a:lstStyle/>
          <a:p>
            <a:pPr indent="0" marL="0">
              <a:buNone/>
            </a:pPr>
            <a:r>
              <a:rPr lang="en-US" sz="1100" b="1" dirty="0">
                <a:solidFill>
                  <a:srgbClr val="2E6DA4"/>
                </a:solidFill>
                <a:latin typeface="Calibri" pitchFamily="34" charset="0"/>
                <a:ea typeface="Calibri" pitchFamily="34" charset="-122"/>
                <a:cs typeface="Calibri" pitchFamily="34" charset="-120"/>
              </a:rPr>
              <a:t>04</a:t>
            </a:r>
            <a:endParaRPr lang="en-US" sz="1100" dirty="0"/>
          </a:p>
        </p:txBody>
      </p:sp>
      <p:sp>
        <p:nvSpPr>
          <p:cNvPr id="18" name="Text 16"/>
          <p:cNvSpPr/>
          <p:nvPr/>
        </p:nvSpPr>
        <p:spPr>
          <a:xfrm>
            <a:off x="4937760" y="3291840"/>
            <a:ext cx="393192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SCM lesson</a:t>
            </a:r>
            <a:endParaRPr lang="en-US" sz="1300" dirty="0"/>
          </a:p>
        </p:txBody>
      </p:sp>
      <p:sp>
        <p:nvSpPr>
          <p:cNvPr id="19" name="Text 17"/>
          <p:cNvSpPr/>
          <p:nvPr/>
        </p:nvSpPr>
        <p:spPr>
          <a:xfrm>
            <a:off x="4937760" y="3657600"/>
            <a:ext cx="3931920" cy="685800"/>
          </a:xfrm>
          <a:prstGeom prst="rect">
            <a:avLst/>
          </a:prstGeom>
          <a:noFill/>
          <a:ln/>
        </p:spPr>
        <p:txBody>
          <a:bodyPr wrap="square" rtlCol="0" anchor="t"/>
          <a:lstStyle/>
          <a:p>
            <a:pPr indent="0" marL="0">
              <a:buNone/>
            </a:pPr>
            <a:r>
              <a:rPr lang="en-US" sz="1200" dirty="0">
                <a:solidFill>
                  <a:srgbClr val="D6E8F7"/>
                </a:solidFill>
                <a:latin typeface="Calibri" pitchFamily="34" charset="0"/>
                <a:ea typeface="Calibri" pitchFamily="34" charset="-122"/>
                <a:cs typeface="Calibri" pitchFamily="34" charset="-120"/>
              </a:rPr>
              <a:t>Credibility rests on pre-period fit — RMSE 0.0036 means Synthetic Alaska is a valid twin</a:t>
            </a:r>
            <a:endParaRPr lang="en-US" sz="1200" dirty="0"/>
          </a:p>
        </p:txBody>
      </p:sp>
      <p:sp>
        <p:nvSpPr>
          <p:cNvPr id="20" name="Text 18"/>
          <p:cNvSpPr/>
          <p:nvPr/>
        </p:nvSpPr>
        <p:spPr>
          <a:xfrm>
            <a:off x="0" y="4846320"/>
            <a:ext cx="9144000" cy="274320"/>
          </a:xfrm>
          <a:prstGeom prst="rect">
            <a:avLst/>
          </a:prstGeom>
          <a:noFill/>
          <a:ln/>
        </p:spPr>
        <p:txBody>
          <a:bodyPr wrap="square" rtlCol="0" anchor="ctr"/>
          <a:lstStyle/>
          <a:p>
            <a:pPr algn="ctr" indent="0" marL="0">
              <a:buNone/>
            </a:pPr>
            <a:r>
              <a:rPr lang="en-US" sz="1000" dirty="0">
                <a:solidFill>
                  <a:srgbClr val="6B7F95"/>
                </a:solidFill>
                <a:latin typeface="Calibri" pitchFamily="34" charset="0"/>
                <a:ea typeface="Calibri" pitchFamily="34" charset="-122"/>
                <a:cs typeface="Calibri" pitchFamily="34" charset="-120"/>
              </a:rPr>
              <a:t>github.com/JamesDuce/GSE-552-Replication-Paper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Replication: Jones &amp; Marinescu (2022)</dc:title>
  <dc:subject>PptxGenJS Presentation</dc:subject>
  <dc:creator>James Duce</dc:creator>
  <cp:lastModifiedBy>James Duce</cp:lastModifiedBy>
  <cp:revision>1</cp:revision>
  <dcterms:created xsi:type="dcterms:W3CDTF">2026-05-31T17:38:10Z</dcterms:created>
  <dcterms:modified xsi:type="dcterms:W3CDTF">2026-05-31T17:38:10Z</dcterms:modified>
</cp:coreProperties>
</file>
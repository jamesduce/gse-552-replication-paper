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"Hi, I'm James Duce. I'm replicating Jones and Marinescu 2022, published in the AEJ Economic Policy. The paper asks whether Alaska's universal cash dividend changes how much people work. The method is the Synthetic Control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"Alaska's dividend has been paid to every resident since 1982 — universal, permanent, no work requirement. Theory says people should work less. But the challenge is that everyone got treated simultaneously — no control group, can't do DiD, and Alaska's oil boom confounds any before/after comparison. SCM builds a statistical twin for Alaska from other states that matched its labor market before 1982. Any gap after 1982 is the treatment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"Data is the Current Population Survey, 51 state-year units, 1977 to 2014. I used the authors' pre-processed panel files — no raw data wrangling needed. Four outcomes: employment rate, part-time rate, labor force participation, and hours worked. Alaska's pre-dividend employment rate was 63.9%."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"Left is Figure 2 — employment. The lines track tightly before 1982, pre-RMSE 0.0036. After 1982 they stay close — effect +0.013, p = 0.459. No significant employment effect, the headline null result replicates. Right is Figure 3 — part-time. Alaska drifts upward above Synthetic Alaska post-1982. My estimate is +1.2pp vs the paper's +1.8pp. Same direction — significance differs only because I ran ~50 placebos vs the paper's 1,836."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"Across all four outcomes, none show significant employment reduction — qualitative conclusion matches the paper. The right side explains why: there's a micro income effect of −0.6pp from labor supply, but a macro demand effect of +0.5pp when everyone spends locally. They nearly cancel. The income effect shows up instead as a part-time shift — people cut hours without quitting."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takeaways. Universal cash doesn't reduce employment — GE demand effects offset the income effect. The income effect shows up in hours, not jobs. For UBI policy, macro effects are smaller than micro models predict. And the SCM lesson: credibility lives in pre-period fit, and p-values depend heavily on placebo pool size.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E6DA4"/>
          </a:solidFill>
          <a:ln w="12700">
            <a:solidFill>
              <a:srgbClr val="2E6DA4"/>
            </a:solidFill>
            <a:prstDash val="solid"/>
          </a:ln>
        </p:spPr>
      </p:sp>
      <p:sp>
        <p:nvSpPr>
          <p:cNvPr id="3" name="Text 1"/>
          <p:cNvSpPr/>
          <p:nvPr/>
        </p:nvSpPr>
        <p:spPr>
          <a:xfrm>
            <a:off x="548640" y="457200"/>
            <a:ext cx="8046720" cy="1691640"/>
          </a:xfrm>
          <a:prstGeom prst="rect">
            <a:avLst/>
          </a:prstGeom>
          <a:noFill/>
          <a:ln/>
        </p:spPr>
        <p:txBody>
          <a:bodyPr wrap="square" rtlCol="0" anchor="t"/>
          <a:lstStyle/>
          <a:p>
            <a:pPr indent="0" marL="0">
              <a:buNone/>
            </a:pPr>
            <a:r>
              <a:rPr lang="en-US" sz="2200" b="1" dirty="0">
                <a:solidFill>
                  <a:srgbClr val="FFFFFF"/>
                </a:solidFill>
                <a:latin typeface="Georgia" pitchFamily="34" charset="0"/>
                <a:ea typeface="Georgia" pitchFamily="34" charset="-122"/>
                <a:cs typeface="Georgia" pitchFamily="34" charset="-120"/>
              </a:rPr>
              <a:t>The Labor Market Impacts of Universal and Permanent Cash Transfers: Evidence from the Alaska Permanent Fund</a:t>
            </a:r>
            <a:endParaRPr lang="en-US" sz="2200" dirty="0"/>
          </a:p>
        </p:txBody>
      </p:sp>
      <p:sp>
        <p:nvSpPr>
          <p:cNvPr id="4" name="Shape 2"/>
          <p:cNvSpPr/>
          <p:nvPr/>
        </p:nvSpPr>
        <p:spPr>
          <a:xfrm>
            <a:off x="548640" y="2240280"/>
            <a:ext cx="8046720" cy="0"/>
          </a:xfrm>
          <a:prstGeom prst="line">
            <a:avLst/>
          </a:prstGeom>
          <a:noFill/>
          <a:ln w="19050">
            <a:solidFill>
              <a:srgbClr val="2E6DA4"/>
            </a:solidFill>
            <a:prstDash val="solid"/>
          </a:ln>
        </p:spPr>
      </p:sp>
      <p:sp>
        <p:nvSpPr>
          <p:cNvPr id="5" name="Text 3"/>
          <p:cNvSpPr/>
          <p:nvPr/>
        </p:nvSpPr>
        <p:spPr>
          <a:xfrm>
            <a:off x="548640" y="2377440"/>
            <a:ext cx="8046720" cy="365760"/>
          </a:xfrm>
          <a:prstGeom prst="rect">
            <a:avLst/>
          </a:prstGeom>
          <a:noFill/>
          <a:ln/>
        </p:spPr>
        <p:txBody>
          <a:bodyPr wrap="square" rtlCol="0" anchor="ctr"/>
          <a:lstStyle/>
          <a:p>
            <a:pPr indent="0" marL="0">
              <a:buNone/>
            </a:pPr>
            <a:r>
              <a:rPr lang="en-US" sz="1600" b="1" dirty="0">
                <a:solidFill>
                  <a:srgbClr val="D6E8F7"/>
                </a:solidFill>
                <a:latin typeface="Calibri" pitchFamily="34" charset="0"/>
                <a:ea typeface="Calibri" pitchFamily="34" charset="-122"/>
                <a:cs typeface="Calibri" pitchFamily="34" charset="-120"/>
              </a:rPr>
              <a:t>Jones, Damon &amp; Marinescu, Ioana</a:t>
            </a:r>
            <a:endParaRPr lang="en-US" sz="1600" dirty="0"/>
          </a:p>
        </p:txBody>
      </p:sp>
      <p:sp>
        <p:nvSpPr>
          <p:cNvPr id="6" name="Text 4"/>
          <p:cNvSpPr/>
          <p:nvPr/>
        </p:nvSpPr>
        <p:spPr>
          <a:xfrm>
            <a:off x="548640" y="2788920"/>
            <a:ext cx="8046720" cy="320040"/>
          </a:xfrm>
          <a:prstGeom prst="rect">
            <a:avLst/>
          </a:prstGeom>
          <a:noFill/>
          <a:ln/>
        </p:spPr>
        <p:txBody>
          <a:bodyPr wrap="square" rtlCol="0" anchor="ctr"/>
          <a:lstStyle/>
          <a:p>
            <a:pPr indent="0" marL="0">
              <a:buNone/>
            </a:pPr>
            <a:r>
              <a:rPr lang="en-US" sz="1300" dirty="0">
                <a:solidFill>
                  <a:srgbClr val="6B7F95"/>
                </a:solidFill>
                <a:latin typeface="Calibri" pitchFamily="34" charset="0"/>
                <a:ea typeface="Calibri" pitchFamily="34" charset="-122"/>
                <a:cs typeface="Calibri" pitchFamily="34" charset="-120"/>
              </a:rPr>
              <a:t>American Economic Journal: Economic Policy  ·  2022</a:t>
            </a:r>
            <a:endParaRPr lang="en-US" sz="1300" dirty="0"/>
          </a:p>
        </p:txBody>
      </p:sp>
      <p:sp>
        <p:nvSpPr>
          <p:cNvPr id="7" name="Shape 5"/>
          <p:cNvSpPr/>
          <p:nvPr/>
        </p:nvSpPr>
        <p:spPr>
          <a:xfrm>
            <a:off x="548640" y="3246120"/>
            <a:ext cx="8046720" cy="0"/>
          </a:xfrm>
          <a:prstGeom prst="line">
            <a:avLst/>
          </a:prstGeom>
          <a:noFill/>
          <a:ln w="9525">
            <a:solidFill>
              <a:srgbClr val="2E6DA4"/>
            </a:solidFill>
            <a:prstDash val="solid"/>
          </a:ln>
        </p:spPr>
      </p:sp>
      <p:sp>
        <p:nvSpPr>
          <p:cNvPr id="8" name="Text 6"/>
          <p:cNvSpPr/>
          <p:nvPr/>
        </p:nvSpPr>
        <p:spPr>
          <a:xfrm>
            <a:off x="548640" y="3383280"/>
            <a:ext cx="8046720" cy="32004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Presented by: James Duce</a:t>
            </a:r>
            <a:endParaRPr lang="en-US" sz="1300" dirty="0"/>
          </a:p>
        </p:txBody>
      </p:sp>
      <p:sp>
        <p:nvSpPr>
          <p:cNvPr id="9" name="Text 7"/>
          <p:cNvSpPr/>
          <p:nvPr/>
        </p:nvSpPr>
        <p:spPr>
          <a:xfrm>
            <a:off x="548640" y="3730752"/>
            <a:ext cx="8046720" cy="274320"/>
          </a:xfrm>
          <a:prstGeom prst="rect">
            <a:avLst/>
          </a:prstGeom>
          <a:noFill/>
          <a:ln/>
        </p:spPr>
        <p:txBody>
          <a:bodyPr wrap="square" rtlCol="0" anchor="ctr"/>
          <a:lstStyle/>
          <a:p>
            <a:pPr indent="0" marL="0">
              <a:buNone/>
            </a:pPr>
            <a:r>
              <a:rPr lang="en-US" sz="1200" dirty="0">
                <a:solidFill>
                  <a:srgbClr val="6B7F95"/>
                </a:solidFill>
                <a:latin typeface="Calibri" pitchFamily="34" charset="0"/>
                <a:ea typeface="Calibri" pitchFamily="34" charset="-122"/>
                <a:cs typeface="Calibri" pitchFamily="34" charset="-120"/>
              </a:rPr>
              <a:t>GSE 552  ·  Cal Poly SLO  ·  Method: Synthetic Control Method</a:t>
            </a:r>
            <a:endParaRPr lang="en-US" sz="1200" dirty="0"/>
          </a:p>
        </p:txBody>
      </p:sp>
      <p:sp>
        <p:nvSpPr>
          <p:cNvPr id="10" name="Text 8"/>
          <p:cNvSpPr/>
          <p:nvPr/>
        </p:nvSpPr>
        <p:spPr>
          <a:xfrm>
            <a:off x="548640" y="4663440"/>
            <a:ext cx="8046720" cy="228600"/>
          </a:xfrm>
          <a:prstGeom prst="rect">
            <a:avLst/>
          </a:prstGeom>
          <a:noFill/>
          <a:ln/>
        </p:spPr>
        <p:txBody>
          <a:bodyPr wrap="square" rtlCol="0" anchor="ctr"/>
          <a:lstStyle/>
          <a:p>
            <a:pPr indent="0" marL="0">
              <a:buNone/>
            </a:pPr>
            <a:r>
              <a:rPr lang="en-US" sz="1000" dirty="0">
                <a:solidFill>
                  <a:srgbClr val="6B7F95"/>
                </a:solidFill>
                <a:latin typeface="Calibri" pitchFamily="34" charset="0"/>
                <a:ea typeface="Calibri" pitchFamily="34" charset="-122"/>
                <a:cs typeface="Calibri" pitchFamily="34" charset="-120"/>
              </a:rPr>
              <a:t>github.com/JamesDuce/GSE-552-Replication-Paper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E6DA4"/>
          </a:solidFill>
          <a:ln w="12700">
            <a:solidFill>
              <a:srgbClr val="2E6DA4"/>
            </a:solidFill>
            <a:prstDash val="solid"/>
          </a:ln>
        </p:spPr>
      </p:sp>
      <p:sp>
        <p:nvSpPr>
          <p:cNvPr id="3" name="Shape 1"/>
          <p:cNvSpPr/>
          <p:nvPr/>
        </p:nvSpPr>
        <p:spPr>
          <a:xfrm>
            <a:off x="365760" y="118872"/>
            <a:ext cx="1554480" cy="256032"/>
          </a:xfrm>
          <a:prstGeom prst="roundRect">
            <a:avLst>
              <a:gd name="adj" fmla="val 17857"/>
            </a:avLst>
          </a:prstGeom>
          <a:solidFill>
            <a:srgbClr val="D6E8F7"/>
          </a:solidFill>
          <a:ln w="12700">
            <a:solidFill>
              <a:srgbClr val="D6E8F7"/>
            </a:solidFill>
            <a:prstDash val="solid"/>
          </a:ln>
        </p:spPr>
      </p:sp>
      <p:sp>
        <p:nvSpPr>
          <p:cNvPr id="4" name="Text 2"/>
          <p:cNvSpPr/>
          <p:nvPr/>
        </p:nvSpPr>
        <p:spPr>
          <a:xfrm>
            <a:off x="365760" y="118872"/>
            <a:ext cx="1554480" cy="256032"/>
          </a:xfrm>
          <a:prstGeom prst="rect">
            <a:avLst/>
          </a:prstGeom>
          <a:noFill/>
          <a:ln/>
        </p:spPr>
        <p:txBody>
          <a:bodyPr wrap="square" lIns="0" tIns="0" rIns="0" bIns="0" rtlCol="0" anchor="ctr"/>
          <a:lstStyle/>
          <a:p>
            <a:pPr algn="ctr" indent="0" marL="0">
              <a:buNone/>
            </a:pPr>
            <a:r>
              <a:rPr lang="en-US" sz="900" b="1" dirty="0">
                <a:solidFill>
                  <a:srgbClr val="2E6DA4"/>
                </a:solidFill>
                <a:latin typeface="Calibri" pitchFamily="34" charset="0"/>
                <a:ea typeface="Calibri" pitchFamily="34" charset="-122"/>
                <a:cs typeface="Calibri" pitchFamily="34" charset="-120"/>
              </a:rPr>
              <a:t>Question &amp; method</a:t>
            </a:r>
            <a:endParaRPr lang="en-US" sz="900" dirty="0"/>
          </a:p>
        </p:txBody>
      </p:sp>
      <p:sp>
        <p:nvSpPr>
          <p:cNvPr id="5" name="Text 3"/>
          <p:cNvSpPr/>
          <p:nvPr/>
        </p:nvSpPr>
        <p:spPr>
          <a:xfrm>
            <a:off x="457200" y="457200"/>
            <a:ext cx="8229600" cy="640080"/>
          </a:xfrm>
          <a:prstGeom prst="rect">
            <a:avLst/>
          </a:prstGeom>
          <a:noFill/>
          <a:ln/>
        </p:spPr>
        <p:txBody>
          <a:bodyPr wrap="square" rtlCol="0" anchor="ctr"/>
          <a:lstStyle/>
          <a:p>
            <a:pPr indent="0" marL="0">
              <a:buNone/>
            </a:pPr>
            <a:r>
              <a:rPr lang="en-US" sz="2800" b="1" dirty="0">
                <a:solidFill>
                  <a:srgbClr val="1C3557"/>
                </a:solidFill>
                <a:latin typeface="Georgia" pitchFamily="34" charset="0"/>
                <a:ea typeface="Georgia" pitchFamily="34" charset="-122"/>
                <a:cs typeface="Georgia" pitchFamily="34" charset="-120"/>
              </a:rPr>
              <a:t>Why Alaska? Why Synthetic Control?</a:t>
            </a:r>
            <a:endParaRPr lang="en-US" sz="2800" dirty="0"/>
          </a:p>
        </p:txBody>
      </p:sp>
      <p:sp>
        <p:nvSpPr>
          <p:cNvPr id="6" name="Shape 4"/>
          <p:cNvSpPr/>
          <p:nvPr/>
        </p:nvSpPr>
        <p:spPr>
          <a:xfrm>
            <a:off x="320040" y="1234440"/>
            <a:ext cx="4023360" cy="3566160"/>
          </a:xfrm>
          <a:prstGeom prst="rect">
            <a:avLst/>
          </a:prstGeom>
          <a:solidFill>
            <a:srgbClr val="FFFFFF"/>
          </a:solidFill>
          <a:ln w="12700">
            <a:solidFill>
              <a:srgbClr val="D0DCE8"/>
            </a:solidFill>
            <a:prstDash val="solid"/>
          </a:ln>
          <a:effectLst>
            <a:outerShdw sx="100000" sy="100000" kx="0" ky="0" algn="bl" rotWithShape="0" blurRad="76200" dist="25400" dir="8100000">
              <a:srgbClr val="000000">
                <a:alpha val="7000"/>
              </a:srgbClr>
            </a:outerShdw>
          </a:effectLst>
        </p:spPr>
      </p:sp>
      <p:sp>
        <p:nvSpPr>
          <p:cNvPr id="7" name="Text 5"/>
          <p:cNvSpPr/>
          <p:nvPr/>
        </p:nvSpPr>
        <p:spPr>
          <a:xfrm>
            <a:off x="457200" y="1353312"/>
            <a:ext cx="3749040" cy="320040"/>
          </a:xfrm>
          <a:prstGeom prst="rect">
            <a:avLst/>
          </a:prstGeom>
          <a:noFill/>
          <a:ln/>
        </p:spPr>
        <p:txBody>
          <a:bodyPr wrap="square" rtlCol="0" anchor="ctr"/>
          <a:lstStyle/>
          <a:p>
            <a:pPr indent="0" marL="0">
              <a:buNone/>
            </a:pPr>
            <a:r>
              <a:rPr lang="en-US" sz="1300" b="1" dirty="0">
                <a:solidFill>
                  <a:srgbClr val="2E6DA4"/>
                </a:solidFill>
                <a:latin typeface="Calibri" pitchFamily="34" charset="0"/>
                <a:ea typeface="Calibri" pitchFamily="34" charset="-122"/>
                <a:cs typeface="Calibri" pitchFamily="34" charset="-120"/>
              </a:rPr>
              <a:t>The Policy &amp; Problem</a:t>
            </a:r>
            <a:endParaRPr lang="en-US" sz="1300" dirty="0"/>
          </a:p>
        </p:txBody>
      </p:sp>
      <p:sp>
        <p:nvSpPr>
          <p:cNvPr id="8" name="Text 6"/>
          <p:cNvSpPr/>
          <p:nvPr/>
        </p:nvSpPr>
        <p:spPr>
          <a:xfrm>
            <a:off x="457200" y="1737360"/>
            <a:ext cx="3749040" cy="2834640"/>
          </a:xfrm>
          <a:prstGeom prst="rect">
            <a:avLst/>
          </a:prstGeom>
          <a:noFill/>
          <a:ln/>
        </p:spPr>
        <p:txBody>
          <a:bodyPr wrap="square" rtlCol="0" anchor="ctr"/>
          <a:lstStyle/>
          <a:p>
            <a:pPr marL="342900" indent="-342900">
              <a:buSzPct val="100000"/>
              <a:buChar char="•"/>
            </a:pPr>
            <a:r>
              <a:rPr lang="en-US" sz="1300" dirty="0">
                <a:solidFill>
                  <a:srgbClr val="2C3E50"/>
                </a:solidFill>
                <a:latin typeface="Calibri" pitchFamily="34" charset="0"/>
                <a:ea typeface="Calibri" pitchFamily="34" charset="-122"/>
                <a:cs typeface="Calibri" pitchFamily="34" charset="-120"/>
              </a:rPr>
              <a:t>Alaska Permanent Fund Dividend: every resident gets ~$1,000–$2,000/yr since 1982 — universal, unconditional, permanent</a:t>
            </a:r>
            <a:endParaRPr lang="en-US" sz="1300" dirty="0"/>
          </a:p>
          <a:p>
            <a:pPr marL="342900" indent="-342900">
              <a:buSzPct val="100000"/>
              <a:buChar char="•"/>
            </a:pPr>
            <a:r>
              <a:rPr lang="en-US" sz="1300" dirty="0">
                <a:solidFill>
                  <a:srgbClr val="2C3E50"/>
                </a:solidFill>
                <a:latin typeface="Calibri" pitchFamily="34" charset="0"/>
                <a:ea typeface="Calibri" pitchFamily="34" charset="-122"/>
                <a:cs typeface="Calibri" pitchFamily="34" charset="-120"/>
              </a:rPr>
              <a:t>Standard theory: more income → buy leisure → work less</a:t>
            </a:r>
            <a:endParaRPr lang="en-US" sz="1300" dirty="0"/>
          </a:p>
          <a:p>
            <a:pPr marL="342900" indent="-342900">
              <a:buSzPct val="100000"/>
              <a:buChar char="•"/>
            </a:pPr>
            <a:r>
              <a:rPr lang="en-US" sz="1300" dirty="0">
                <a:solidFill>
                  <a:srgbClr val="2C3E50"/>
                </a:solidFill>
                <a:latin typeface="Calibri" pitchFamily="34" charset="0"/>
                <a:ea typeface="Calibri" pitchFamily="34" charset="-122"/>
                <a:cs typeface="Calibri" pitchFamily="34" charset="-120"/>
              </a:rPr>
              <a:t>Problem: every Alaskan treated simultaneously — no control group, can't do DiD, oil boom confounds before/after</a:t>
            </a:r>
            <a:endParaRPr lang="en-US" sz="1300" dirty="0"/>
          </a:p>
        </p:txBody>
      </p:sp>
      <p:sp>
        <p:nvSpPr>
          <p:cNvPr id="9" name="Shape 7"/>
          <p:cNvSpPr/>
          <p:nvPr/>
        </p:nvSpPr>
        <p:spPr>
          <a:xfrm>
            <a:off x="4800600" y="1234440"/>
            <a:ext cx="4023360" cy="3566160"/>
          </a:xfrm>
          <a:prstGeom prst="rect">
            <a:avLst/>
          </a:prstGeom>
          <a:solidFill>
            <a:srgbClr val="FFFFFF"/>
          </a:solidFill>
          <a:ln w="12700">
            <a:solidFill>
              <a:srgbClr val="D0DCE8"/>
            </a:solidFill>
            <a:prstDash val="solid"/>
          </a:ln>
          <a:effectLst>
            <a:outerShdw sx="100000" sy="100000" kx="0" ky="0" algn="bl" rotWithShape="0" blurRad="76200" dist="25400" dir="8100000">
              <a:srgbClr val="000000">
                <a:alpha val="7000"/>
              </a:srgbClr>
            </a:outerShdw>
          </a:effectLst>
        </p:spPr>
      </p:sp>
      <p:sp>
        <p:nvSpPr>
          <p:cNvPr id="10" name="Text 8"/>
          <p:cNvSpPr/>
          <p:nvPr/>
        </p:nvSpPr>
        <p:spPr>
          <a:xfrm>
            <a:off x="4937760" y="1353312"/>
            <a:ext cx="3749040" cy="320040"/>
          </a:xfrm>
          <a:prstGeom prst="rect">
            <a:avLst/>
          </a:prstGeom>
          <a:noFill/>
          <a:ln/>
        </p:spPr>
        <p:txBody>
          <a:bodyPr wrap="square" rtlCol="0" anchor="ctr"/>
          <a:lstStyle/>
          <a:p>
            <a:pPr indent="0" marL="0">
              <a:buNone/>
            </a:pPr>
            <a:r>
              <a:rPr lang="en-US" sz="1300" b="1" dirty="0">
                <a:solidFill>
                  <a:srgbClr val="1A7A4A"/>
                </a:solidFill>
                <a:latin typeface="Calibri" pitchFamily="34" charset="0"/>
                <a:ea typeface="Calibri" pitchFamily="34" charset="-122"/>
                <a:cs typeface="Calibri" pitchFamily="34" charset="-120"/>
              </a:rPr>
              <a:t>The Solution: SCM</a:t>
            </a:r>
            <a:endParaRPr lang="en-US" sz="1300" dirty="0"/>
          </a:p>
        </p:txBody>
      </p:sp>
      <p:sp>
        <p:nvSpPr>
          <p:cNvPr id="11" name="Text 9"/>
          <p:cNvSpPr/>
          <p:nvPr/>
        </p:nvSpPr>
        <p:spPr>
          <a:xfrm>
            <a:off x="4937760" y="1737360"/>
            <a:ext cx="3749040" cy="2834640"/>
          </a:xfrm>
          <a:prstGeom prst="rect">
            <a:avLst/>
          </a:prstGeom>
          <a:noFill/>
          <a:ln/>
        </p:spPr>
        <p:txBody>
          <a:bodyPr wrap="square" rtlCol="0" anchor="ctr"/>
          <a:lstStyle/>
          <a:p>
            <a:pPr marL="342900" indent="-342900">
              <a:buSzPct val="100000"/>
              <a:buChar char="•"/>
            </a:pPr>
            <a:r>
              <a:rPr lang="en-US" sz="1300" dirty="0">
                <a:solidFill>
                  <a:srgbClr val="2C3E50"/>
                </a:solidFill>
                <a:latin typeface="Calibri" pitchFamily="34" charset="0"/>
                <a:ea typeface="Calibri" pitchFamily="34" charset="-122"/>
                <a:cs typeface="Calibri" pitchFamily="34" charset="-120"/>
              </a:rPr>
              <a:t>Build 'Synthetic Alaska' — a weighted average of donor states that looked like Alaska before 1982</a:t>
            </a:r>
            <a:endParaRPr lang="en-US" sz="1300" dirty="0"/>
          </a:p>
          <a:p>
            <a:pPr marL="342900" indent="-342900">
              <a:buSzPct val="100000"/>
              <a:buChar char="•"/>
            </a:pPr>
            <a:r>
              <a:rPr lang="en-US" sz="1300" dirty="0">
                <a:solidFill>
                  <a:srgbClr val="2C3E50"/>
                </a:solidFill>
                <a:latin typeface="Calibri" pitchFamily="34" charset="0"/>
                <a:ea typeface="Calibri" pitchFamily="34" charset="-122"/>
                <a:cs typeface="Calibri" pitchFamily="34" charset="-120"/>
              </a:rPr>
              <a:t>Weights w* minimize pre-1982 prediction error (w ≥ 0, Σw = 1)</a:t>
            </a:r>
            <a:endParaRPr lang="en-US" sz="1300" dirty="0"/>
          </a:p>
          <a:p>
            <a:pPr marL="342900" indent="-342900">
              <a:buSzPct val="100000"/>
              <a:buChar char="•"/>
            </a:pPr>
            <a:r>
              <a:rPr lang="en-US" sz="1300" dirty="0">
                <a:solidFill>
                  <a:srgbClr val="2C3E50"/>
                </a:solidFill>
                <a:latin typeface="Calibri" pitchFamily="34" charset="0"/>
                <a:ea typeface="Calibri" pitchFamily="34" charset="-122"/>
                <a:cs typeface="Calibri" pitchFamily="34" charset="-120"/>
              </a:rPr>
              <a:t>Post-1982 gap = causal effect. Inference: repeat for every donor state (placebo test)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E6DA4"/>
          </a:solidFill>
          <a:ln w="12700">
            <a:solidFill>
              <a:srgbClr val="2E6DA4"/>
            </a:solidFill>
            <a:prstDash val="solid"/>
          </a:ln>
        </p:spPr>
      </p:sp>
      <p:sp>
        <p:nvSpPr>
          <p:cNvPr id="3" name="Shape 1"/>
          <p:cNvSpPr/>
          <p:nvPr/>
        </p:nvSpPr>
        <p:spPr>
          <a:xfrm>
            <a:off x="365760" y="118872"/>
            <a:ext cx="1554480" cy="256032"/>
          </a:xfrm>
          <a:prstGeom prst="roundRect">
            <a:avLst>
              <a:gd name="adj" fmla="val 17857"/>
            </a:avLst>
          </a:prstGeom>
          <a:solidFill>
            <a:srgbClr val="D6E8F7"/>
          </a:solidFill>
          <a:ln w="12700">
            <a:solidFill>
              <a:srgbClr val="D6E8F7"/>
            </a:solidFill>
            <a:prstDash val="solid"/>
          </a:ln>
        </p:spPr>
      </p:sp>
      <p:sp>
        <p:nvSpPr>
          <p:cNvPr id="4" name="Text 2"/>
          <p:cNvSpPr/>
          <p:nvPr/>
        </p:nvSpPr>
        <p:spPr>
          <a:xfrm>
            <a:off x="365760" y="118872"/>
            <a:ext cx="1554480" cy="256032"/>
          </a:xfrm>
          <a:prstGeom prst="rect">
            <a:avLst/>
          </a:prstGeom>
          <a:noFill/>
          <a:ln/>
        </p:spPr>
        <p:txBody>
          <a:bodyPr wrap="square" lIns="0" tIns="0" rIns="0" bIns="0" rtlCol="0" anchor="ctr"/>
          <a:lstStyle/>
          <a:p>
            <a:pPr algn="ctr" indent="0" marL="0">
              <a:buNone/>
            </a:pPr>
            <a:r>
              <a:rPr lang="en-US" sz="900" b="1" dirty="0">
                <a:solidFill>
                  <a:srgbClr val="2E6DA4"/>
                </a:solidFill>
                <a:latin typeface="Calibri" pitchFamily="34" charset="0"/>
                <a:ea typeface="Calibri" pitchFamily="34" charset="-122"/>
                <a:cs typeface="Calibri" pitchFamily="34" charset="-120"/>
              </a:rPr>
              <a:t>Data</a:t>
            </a:r>
            <a:endParaRPr lang="en-US" sz="900" dirty="0"/>
          </a:p>
        </p:txBody>
      </p:sp>
      <p:sp>
        <p:nvSpPr>
          <p:cNvPr id="5" name="Text 3"/>
          <p:cNvSpPr/>
          <p:nvPr/>
        </p:nvSpPr>
        <p:spPr>
          <a:xfrm>
            <a:off x="457200" y="457200"/>
            <a:ext cx="8229600" cy="594360"/>
          </a:xfrm>
          <a:prstGeom prst="rect">
            <a:avLst/>
          </a:prstGeom>
          <a:noFill/>
          <a:ln/>
        </p:spPr>
        <p:txBody>
          <a:bodyPr wrap="square" rtlCol="0" anchor="ctr"/>
          <a:lstStyle/>
          <a:p>
            <a:pPr indent="0" marL="0">
              <a:buNone/>
            </a:pPr>
            <a:r>
              <a:rPr lang="en-US" sz="2800" b="1" dirty="0">
                <a:solidFill>
                  <a:srgbClr val="1C3557"/>
                </a:solidFill>
                <a:latin typeface="Georgia" pitchFamily="34" charset="0"/>
                <a:ea typeface="Georgia" pitchFamily="34" charset="-122"/>
                <a:cs typeface="Georgia" pitchFamily="34" charset="-120"/>
              </a:rPr>
              <a:t>CPS State-Year Panel, 1977–2014</a:t>
            </a:r>
            <a:endParaRPr lang="en-US" sz="2800" dirty="0"/>
          </a:p>
        </p:txBody>
      </p:sp>
      <p:sp>
        <p:nvSpPr>
          <p:cNvPr id="6" name="Shape 4"/>
          <p:cNvSpPr/>
          <p:nvPr/>
        </p:nvSpPr>
        <p:spPr>
          <a:xfrm>
            <a:off x="320040" y="1188720"/>
            <a:ext cx="2011680" cy="914400"/>
          </a:xfrm>
          <a:prstGeom prst="rect">
            <a:avLst/>
          </a:prstGeom>
          <a:solidFill>
            <a:srgbClr val="D6E8F7"/>
          </a:solidFill>
          <a:ln w="12700">
            <a:solidFill>
              <a:srgbClr val="D6E8F7"/>
            </a:solidFill>
            <a:prstDash val="solid"/>
          </a:ln>
        </p:spPr>
      </p:sp>
      <p:sp>
        <p:nvSpPr>
          <p:cNvPr id="7" name="Text 5"/>
          <p:cNvSpPr/>
          <p:nvPr/>
        </p:nvSpPr>
        <p:spPr>
          <a:xfrm>
            <a:off x="320040" y="1234440"/>
            <a:ext cx="2011680" cy="502920"/>
          </a:xfrm>
          <a:prstGeom prst="rect">
            <a:avLst/>
          </a:prstGeom>
          <a:noFill/>
          <a:ln/>
        </p:spPr>
        <p:txBody>
          <a:bodyPr wrap="square" rtlCol="0" anchor="ctr"/>
          <a:lstStyle/>
          <a:p>
            <a:pPr algn="ctr" indent="0" marL="0">
              <a:buNone/>
            </a:pPr>
            <a:r>
              <a:rPr lang="en-US" sz="2600" b="1" dirty="0">
                <a:solidFill>
                  <a:srgbClr val="2E6DA4"/>
                </a:solidFill>
                <a:latin typeface="Georgia" pitchFamily="34" charset="0"/>
                <a:ea typeface="Georgia" pitchFamily="34" charset="-122"/>
                <a:cs typeface="Georgia" pitchFamily="34" charset="-120"/>
              </a:rPr>
              <a:t>51</a:t>
            </a:r>
            <a:endParaRPr lang="en-US" sz="2600" dirty="0"/>
          </a:p>
        </p:txBody>
      </p:sp>
      <p:sp>
        <p:nvSpPr>
          <p:cNvPr id="8" name="Text 6"/>
          <p:cNvSpPr/>
          <p:nvPr/>
        </p:nvSpPr>
        <p:spPr>
          <a:xfrm>
            <a:off x="320040" y="1691640"/>
            <a:ext cx="2011680" cy="320040"/>
          </a:xfrm>
          <a:prstGeom prst="rect">
            <a:avLst/>
          </a:prstGeom>
          <a:noFill/>
          <a:ln/>
        </p:spPr>
        <p:txBody>
          <a:bodyPr wrap="square" rtlCol="0" anchor="ctr"/>
          <a:lstStyle/>
          <a:p>
            <a:pPr algn="ctr" indent="0" marL="0">
              <a:buNone/>
            </a:pPr>
            <a:r>
              <a:rPr lang="en-US" sz="1100" dirty="0">
                <a:solidFill>
                  <a:srgbClr val="6B7F95"/>
                </a:solidFill>
                <a:latin typeface="Calibri" pitchFamily="34" charset="0"/>
                <a:ea typeface="Calibri" pitchFamily="34" charset="-122"/>
                <a:cs typeface="Calibri" pitchFamily="34" charset="-120"/>
              </a:rPr>
              <a:t>states</a:t>
            </a:r>
            <a:endParaRPr lang="en-US" sz="1100" dirty="0"/>
          </a:p>
        </p:txBody>
      </p:sp>
      <p:sp>
        <p:nvSpPr>
          <p:cNvPr id="9" name="Shape 7"/>
          <p:cNvSpPr/>
          <p:nvPr/>
        </p:nvSpPr>
        <p:spPr>
          <a:xfrm>
            <a:off x="2468880" y="1188720"/>
            <a:ext cx="2011680" cy="914400"/>
          </a:xfrm>
          <a:prstGeom prst="rect">
            <a:avLst/>
          </a:prstGeom>
          <a:solidFill>
            <a:srgbClr val="D6E8F7"/>
          </a:solidFill>
          <a:ln w="12700">
            <a:solidFill>
              <a:srgbClr val="D6E8F7"/>
            </a:solidFill>
            <a:prstDash val="solid"/>
          </a:ln>
        </p:spPr>
      </p:sp>
      <p:sp>
        <p:nvSpPr>
          <p:cNvPr id="10" name="Text 8"/>
          <p:cNvSpPr/>
          <p:nvPr/>
        </p:nvSpPr>
        <p:spPr>
          <a:xfrm>
            <a:off x="2468880" y="1234440"/>
            <a:ext cx="2011680" cy="502920"/>
          </a:xfrm>
          <a:prstGeom prst="rect">
            <a:avLst/>
          </a:prstGeom>
          <a:noFill/>
          <a:ln/>
        </p:spPr>
        <p:txBody>
          <a:bodyPr wrap="square" rtlCol="0" anchor="ctr"/>
          <a:lstStyle/>
          <a:p>
            <a:pPr algn="ctr" indent="0" marL="0">
              <a:buNone/>
            </a:pPr>
            <a:r>
              <a:rPr lang="en-US" sz="2600" b="1" dirty="0">
                <a:solidFill>
                  <a:srgbClr val="2E6DA4"/>
                </a:solidFill>
                <a:latin typeface="Georgia" pitchFamily="34" charset="0"/>
                <a:ea typeface="Georgia" pitchFamily="34" charset="-122"/>
                <a:cs typeface="Georgia" pitchFamily="34" charset="-120"/>
              </a:rPr>
              <a:t>38</a:t>
            </a:r>
            <a:endParaRPr lang="en-US" sz="2600" dirty="0"/>
          </a:p>
        </p:txBody>
      </p:sp>
      <p:sp>
        <p:nvSpPr>
          <p:cNvPr id="11" name="Text 9"/>
          <p:cNvSpPr/>
          <p:nvPr/>
        </p:nvSpPr>
        <p:spPr>
          <a:xfrm>
            <a:off x="2468880" y="1691640"/>
            <a:ext cx="2011680" cy="320040"/>
          </a:xfrm>
          <a:prstGeom prst="rect">
            <a:avLst/>
          </a:prstGeom>
          <a:noFill/>
          <a:ln/>
        </p:spPr>
        <p:txBody>
          <a:bodyPr wrap="square" rtlCol="0" anchor="ctr"/>
          <a:lstStyle/>
          <a:p>
            <a:pPr algn="ctr" indent="0" marL="0">
              <a:buNone/>
            </a:pPr>
            <a:r>
              <a:rPr lang="en-US" sz="1100" dirty="0">
                <a:solidFill>
                  <a:srgbClr val="6B7F95"/>
                </a:solidFill>
                <a:latin typeface="Calibri" pitchFamily="34" charset="0"/>
                <a:ea typeface="Calibri" pitchFamily="34" charset="-122"/>
                <a:cs typeface="Calibri" pitchFamily="34" charset="-120"/>
              </a:rPr>
              <a:t>years</a:t>
            </a:r>
            <a:endParaRPr lang="en-US" sz="1100" dirty="0"/>
          </a:p>
        </p:txBody>
      </p:sp>
      <p:sp>
        <p:nvSpPr>
          <p:cNvPr id="12" name="Shape 10"/>
          <p:cNvSpPr/>
          <p:nvPr/>
        </p:nvSpPr>
        <p:spPr>
          <a:xfrm>
            <a:off x="4617720" y="1188720"/>
            <a:ext cx="2011680" cy="914400"/>
          </a:xfrm>
          <a:prstGeom prst="rect">
            <a:avLst/>
          </a:prstGeom>
          <a:solidFill>
            <a:srgbClr val="D6E8F7"/>
          </a:solidFill>
          <a:ln w="12700">
            <a:solidFill>
              <a:srgbClr val="D6E8F7"/>
            </a:solidFill>
            <a:prstDash val="solid"/>
          </a:ln>
        </p:spPr>
      </p:sp>
      <p:sp>
        <p:nvSpPr>
          <p:cNvPr id="13" name="Text 11"/>
          <p:cNvSpPr/>
          <p:nvPr/>
        </p:nvSpPr>
        <p:spPr>
          <a:xfrm>
            <a:off x="4617720" y="1234440"/>
            <a:ext cx="2011680" cy="502920"/>
          </a:xfrm>
          <a:prstGeom prst="rect">
            <a:avLst/>
          </a:prstGeom>
          <a:noFill/>
          <a:ln/>
        </p:spPr>
        <p:txBody>
          <a:bodyPr wrap="square" rtlCol="0" anchor="ctr"/>
          <a:lstStyle/>
          <a:p>
            <a:pPr algn="ctr" indent="0" marL="0">
              <a:buNone/>
            </a:pPr>
            <a:r>
              <a:rPr lang="en-US" sz="2600" b="1" dirty="0">
                <a:solidFill>
                  <a:srgbClr val="2E6DA4"/>
                </a:solidFill>
                <a:latin typeface="Georgia" pitchFamily="34" charset="0"/>
                <a:ea typeface="Georgia" pitchFamily="34" charset="-122"/>
                <a:cs typeface="Georgia" pitchFamily="34" charset="-120"/>
              </a:rPr>
              <a:t>1977–81</a:t>
            </a:r>
            <a:endParaRPr lang="en-US" sz="2600" dirty="0"/>
          </a:p>
        </p:txBody>
      </p:sp>
      <p:sp>
        <p:nvSpPr>
          <p:cNvPr id="14" name="Text 12"/>
          <p:cNvSpPr/>
          <p:nvPr/>
        </p:nvSpPr>
        <p:spPr>
          <a:xfrm>
            <a:off x="4617720" y="1691640"/>
            <a:ext cx="2011680" cy="320040"/>
          </a:xfrm>
          <a:prstGeom prst="rect">
            <a:avLst/>
          </a:prstGeom>
          <a:noFill/>
          <a:ln/>
        </p:spPr>
        <p:txBody>
          <a:bodyPr wrap="square" rtlCol="0" anchor="ctr"/>
          <a:lstStyle/>
          <a:p>
            <a:pPr algn="ctr" indent="0" marL="0">
              <a:buNone/>
            </a:pPr>
            <a:r>
              <a:rPr lang="en-US" sz="1100" dirty="0">
                <a:solidFill>
                  <a:srgbClr val="6B7F95"/>
                </a:solidFill>
                <a:latin typeface="Calibri" pitchFamily="34" charset="0"/>
                <a:ea typeface="Calibri" pitchFamily="34" charset="-122"/>
                <a:cs typeface="Calibri" pitchFamily="34" charset="-120"/>
              </a:rPr>
              <a:t>pre-period</a:t>
            </a:r>
            <a:endParaRPr lang="en-US" sz="1100" dirty="0"/>
          </a:p>
        </p:txBody>
      </p:sp>
      <p:sp>
        <p:nvSpPr>
          <p:cNvPr id="15" name="Shape 13"/>
          <p:cNvSpPr/>
          <p:nvPr/>
        </p:nvSpPr>
        <p:spPr>
          <a:xfrm>
            <a:off x="6766560" y="1188720"/>
            <a:ext cx="2011680" cy="914400"/>
          </a:xfrm>
          <a:prstGeom prst="rect">
            <a:avLst/>
          </a:prstGeom>
          <a:solidFill>
            <a:srgbClr val="D6E8F7"/>
          </a:solidFill>
          <a:ln w="12700">
            <a:solidFill>
              <a:srgbClr val="D6E8F7"/>
            </a:solidFill>
            <a:prstDash val="solid"/>
          </a:ln>
        </p:spPr>
      </p:sp>
      <p:sp>
        <p:nvSpPr>
          <p:cNvPr id="16" name="Text 14"/>
          <p:cNvSpPr/>
          <p:nvPr/>
        </p:nvSpPr>
        <p:spPr>
          <a:xfrm>
            <a:off x="6766560" y="1234440"/>
            <a:ext cx="2011680" cy="502920"/>
          </a:xfrm>
          <a:prstGeom prst="rect">
            <a:avLst/>
          </a:prstGeom>
          <a:noFill/>
          <a:ln/>
        </p:spPr>
        <p:txBody>
          <a:bodyPr wrap="square" rtlCol="0" anchor="ctr"/>
          <a:lstStyle/>
          <a:p>
            <a:pPr algn="ctr" indent="0" marL="0">
              <a:buNone/>
            </a:pPr>
            <a:r>
              <a:rPr lang="en-US" sz="2600" b="1" dirty="0">
                <a:solidFill>
                  <a:srgbClr val="2E6DA4"/>
                </a:solidFill>
                <a:latin typeface="Georgia" pitchFamily="34" charset="0"/>
                <a:ea typeface="Georgia" pitchFamily="34" charset="-122"/>
                <a:cs typeface="Georgia" pitchFamily="34" charset="-120"/>
              </a:rPr>
              <a:t>1982–2014</a:t>
            </a:r>
            <a:endParaRPr lang="en-US" sz="2600" dirty="0"/>
          </a:p>
        </p:txBody>
      </p:sp>
      <p:sp>
        <p:nvSpPr>
          <p:cNvPr id="17" name="Text 15"/>
          <p:cNvSpPr/>
          <p:nvPr/>
        </p:nvSpPr>
        <p:spPr>
          <a:xfrm>
            <a:off x="6766560" y="1691640"/>
            <a:ext cx="2011680" cy="320040"/>
          </a:xfrm>
          <a:prstGeom prst="rect">
            <a:avLst/>
          </a:prstGeom>
          <a:noFill/>
          <a:ln/>
        </p:spPr>
        <p:txBody>
          <a:bodyPr wrap="square" rtlCol="0" anchor="ctr"/>
          <a:lstStyle/>
          <a:p>
            <a:pPr algn="ctr" indent="0" marL="0">
              <a:buNone/>
            </a:pPr>
            <a:r>
              <a:rPr lang="en-US" sz="1100" dirty="0">
                <a:solidFill>
                  <a:srgbClr val="6B7F95"/>
                </a:solidFill>
                <a:latin typeface="Calibri" pitchFamily="34" charset="0"/>
                <a:ea typeface="Calibri" pitchFamily="34" charset="-122"/>
                <a:cs typeface="Calibri" pitchFamily="34" charset="-120"/>
              </a:rPr>
              <a:t>post-period</a:t>
            </a:r>
            <a:endParaRPr lang="en-US" sz="1100" dirty="0"/>
          </a:p>
        </p:txBody>
      </p:sp>
      <p:sp>
        <p:nvSpPr>
          <p:cNvPr id="18" name="Text 16"/>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C3557"/>
                </a:solidFill>
                <a:latin typeface="Calibri" pitchFamily="34" charset="0"/>
                <a:ea typeface="Calibri" pitchFamily="34" charset="-122"/>
                <a:cs typeface="Calibri" pitchFamily="34" charset="-120"/>
              </a:rPr>
              <a:t>Four outcome variables (state × year means):</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697480"/>
          <a:ext cx="8229600" cy="2148840"/>
        </p:xfrm>
        <a:graphic>
          <a:graphicData uri="http://schemas.openxmlformats.org/drawingml/2006/table">
            <a:tbl>
              <a:tblPr/>
              <a:tblGrid>
                <a:gridCol w="3200400"/>
                <a:gridCol w="2286000"/>
                <a:gridCol w="2743200"/>
              </a:tblGrid>
              <a:tr h="42976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Outcome</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C355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Variable</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C355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Alaska pre-1982 mean</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C3557"/>
                    </a:solidFill>
                  </a:tcPr>
                </a:tc>
              </a:tr>
              <a:tr h="429768">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Employment rate</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employed</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63.9%</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r>
              <a:tr h="429768">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Part-time rate</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parttime</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r>
              <a:tr h="429768">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LFP rate</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activelf</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r>
              <a:tr h="429768">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Hours worked (MORG)</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hourslw</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200" dirty="0">
                          <a:solidFill>
                            <a:srgbClr val="2C3E50"/>
                          </a:solidFill>
                          <a:latin typeface="Calibri" pitchFamily="34" charset="0"/>
                          <a:ea typeface="Calibri" pitchFamily="34" charset="-122"/>
                          <a:cs typeface="Calibri" pitchFamily="34" charset="-120"/>
                        </a:rPr>
                        <a:t>38.0 hrs/wk</a:t>
                      </a:r>
                      <a:endParaRPr lang="en-US" sz="12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E6DA4"/>
          </a:solidFill>
          <a:ln w="12700">
            <a:solidFill>
              <a:srgbClr val="2E6DA4"/>
            </a:solidFill>
            <a:prstDash val="solid"/>
          </a:ln>
        </p:spPr>
      </p:sp>
      <p:sp>
        <p:nvSpPr>
          <p:cNvPr id="3" name="Shape 1"/>
          <p:cNvSpPr/>
          <p:nvPr/>
        </p:nvSpPr>
        <p:spPr>
          <a:xfrm>
            <a:off x="365760" y="118872"/>
            <a:ext cx="1554480" cy="256032"/>
          </a:xfrm>
          <a:prstGeom prst="roundRect">
            <a:avLst>
              <a:gd name="adj" fmla="val 17857"/>
            </a:avLst>
          </a:prstGeom>
          <a:solidFill>
            <a:srgbClr val="D6E8F7"/>
          </a:solidFill>
          <a:ln w="12700">
            <a:solidFill>
              <a:srgbClr val="D6E8F7"/>
            </a:solidFill>
            <a:prstDash val="solid"/>
          </a:ln>
        </p:spPr>
      </p:sp>
      <p:sp>
        <p:nvSpPr>
          <p:cNvPr id="4" name="Text 2"/>
          <p:cNvSpPr/>
          <p:nvPr/>
        </p:nvSpPr>
        <p:spPr>
          <a:xfrm>
            <a:off x="365760" y="118872"/>
            <a:ext cx="1554480" cy="256032"/>
          </a:xfrm>
          <a:prstGeom prst="rect">
            <a:avLst/>
          </a:prstGeom>
          <a:noFill/>
          <a:ln/>
        </p:spPr>
        <p:txBody>
          <a:bodyPr wrap="square" lIns="0" tIns="0" rIns="0" bIns="0" rtlCol="0" anchor="ctr"/>
          <a:lstStyle/>
          <a:p>
            <a:pPr algn="ctr" indent="0" marL="0">
              <a:buNone/>
            </a:pPr>
            <a:r>
              <a:rPr lang="en-US" sz="900" b="1" dirty="0">
                <a:solidFill>
                  <a:srgbClr val="2E6DA4"/>
                </a:solidFill>
                <a:latin typeface="Calibri" pitchFamily="34" charset="0"/>
                <a:ea typeface="Calibri" pitchFamily="34" charset="-122"/>
                <a:cs typeface="Calibri" pitchFamily="34" charset="-120"/>
              </a:rPr>
              <a:t>Results: figures</a:t>
            </a:r>
            <a:endParaRPr lang="en-US" sz="900" dirty="0"/>
          </a:p>
        </p:txBody>
      </p:sp>
      <p:sp>
        <p:nvSpPr>
          <p:cNvPr id="5" name="Text 3"/>
          <p:cNvSpPr/>
          <p:nvPr/>
        </p:nvSpPr>
        <p:spPr>
          <a:xfrm>
            <a:off x="457200" y="457200"/>
            <a:ext cx="8229600" cy="594360"/>
          </a:xfrm>
          <a:prstGeom prst="rect">
            <a:avLst/>
          </a:prstGeom>
          <a:noFill/>
          <a:ln/>
        </p:spPr>
        <p:txBody>
          <a:bodyPr wrap="square" rtlCol="0" anchor="ctr"/>
          <a:lstStyle/>
          <a:p>
            <a:pPr indent="0" marL="0">
              <a:buNone/>
            </a:pPr>
            <a:r>
              <a:rPr lang="en-US" sz="2400" b="1" dirty="0">
                <a:solidFill>
                  <a:srgbClr val="1C3557"/>
                </a:solidFill>
                <a:latin typeface="Georgia" pitchFamily="34" charset="0"/>
                <a:ea typeface="Georgia" pitchFamily="34" charset="-122"/>
                <a:cs typeface="Georgia" pitchFamily="34" charset="-120"/>
              </a:rPr>
              <a:t>Alaska vs. Synthetic Alaska — the two key figures</a:t>
            </a:r>
            <a:endParaRPr lang="en-US" sz="2400" dirty="0"/>
          </a:p>
        </p:txBody>
      </p:sp>
      <p:pic>
        <p:nvPicPr>
          <p:cNvPr id="6" name="Image 0" descr="preencoded.png">    </p:cNvPr>
          <p:cNvPicPr>
            <a:picLocks noChangeAspect="1"/>
          </p:cNvPicPr>
          <p:nvPr/>
        </p:nvPicPr>
        <p:blipFill>
          <a:blip r:embed="rId1"/>
          <a:stretch>
            <a:fillRect/>
          </a:stretch>
        </p:blipFill>
        <p:spPr>
          <a:xfrm>
            <a:off x="274320" y="1143000"/>
            <a:ext cx="4297680" cy="2651760"/>
          </a:xfrm>
          <a:prstGeom prst="rect">
            <a:avLst/>
          </a:prstGeom>
        </p:spPr>
      </p:pic>
      <p:sp>
        <p:nvSpPr>
          <p:cNvPr id="7" name="Shape 4"/>
          <p:cNvSpPr/>
          <p:nvPr/>
        </p:nvSpPr>
        <p:spPr>
          <a:xfrm>
            <a:off x="274320" y="3840480"/>
            <a:ext cx="4297680" cy="594360"/>
          </a:xfrm>
          <a:prstGeom prst="rect">
            <a:avLst/>
          </a:prstGeom>
          <a:solidFill>
            <a:srgbClr val="D6E8F7"/>
          </a:solidFill>
          <a:ln w="12700">
            <a:solidFill>
              <a:srgbClr val="D6E8F7"/>
            </a:solidFill>
            <a:prstDash val="solid"/>
          </a:ln>
        </p:spPr>
      </p:sp>
      <p:sp>
        <p:nvSpPr>
          <p:cNvPr id="8" name="Text 5"/>
          <p:cNvSpPr/>
          <p:nvPr/>
        </p:nvSpPr>
        <p:spPr>
          <a:xfrm>
            <a:off x="274320" y="3840480"/>
            <a:ext cx="4297680" cy="594360"/>
          </a:xfrm>
          <a:prstGeom prst="rect">
            <a:avLst/>
          </a:prstGeom>
          <a:noFill/>
          <a:ln/>
        </p:spPr>
        <p:txBody>
          <a:bodyPr wrap="square" rtlCol="0" anchor="ctr"/>
          <a:lstStyle/>
          <a:p>
            <a:pPr algn="ctr" indent="0" marL="0">
              <a:buNone/>
            </a:pPr>
            <a:r>
              <a:rPr lang="en-US" sz="1100" dirty="0">
                <a:solidFill>
                  <a:srgbClr val="1C3557"/>
                </a:solidFill>
                <a:latin typeface="Calibri" pitchFamily="34" charset="0"/>
                <a:ea typeface="Calibri" pitchFamily="34" charset="-122"/>
                <a:cs typeface="Calibri" pitchFamily="34" charset="-120"/>
              </a:rPr>
              <a:t>Employment: +0.013, p = 0.459 — NOT significant</a:t>
            </a:r>
            <a:endParaRPr lang="en-US" sz="1100" dirty="0"/>
          </a:p>
          <a:p>
            <a:pPr algn="ctr" indent="0" marL="0">
              <a:buNone/>
            </a:pPr>
            <a:r>
              <a:rPr lang="en-US" sz="1100" dirty="0">
                <a:solidFill>
                  <a:srgbClr val="1C3557"/>
                </a:solidFill>
                <a:latin typeface="Calibri" pitchFamily="34" charset="0"/>
                <a:ea typeface="Calibri" pitchFamily="34" charset="-122"/>
                <a:cs typeface="Calibri" pitchFamily="34" charset="-120"/>
              </a:rPr>
              <a:t>→ lines stay together after 1982 ✓</a:t>
            </a:r>
            <a:endParaRPr lang="en-US" sz="1100" dirty="0"/>
          </a:p>
        </p:txBody>
      </p:sp>
      <p:pic>
        <p:nvPicPr>
          <p:cNvPr id="9" name="Image 1" descr="preencoded.png">    </p:cNvPr>
          <p:cNvPicPr>
            <a:picLocks noChangeAspect="1"/>
          </p:cNvPicPr>
          <p:nvPr/>
        </p:nvPicPr>
        <p:blipFill>
          <a:blip r:embed="rId2"/>
          <a:stretch>
            <a:fillRect/>
          </a:stretch>
        </p:blipFill>
        <p:spPr>
          <a:xfrm>
            <a:off x="4709160" y="1143000"/>
            <a:ext cx="4297680" cy="2651760"/>
          </a:xfrm>
          <a:prstGeom prst="rect">
            <a:avLst/>
          </a:prstGeom>
        </p:spPr>
      </p:pic>
      <p:sp>
        <p:nvSpPr>
          <p:cNvPr id="10" name="Shape 6"/>
          <p:cNvSpPr/>
          <p:nvPr/>
        </p:nvSpPr>
        <p:spPr>
          <a:xfrm>
            <a:off x="4709160" y="3840480"/>
            <a:ext cx="4297680" cy="594360"/>
          </a:xfrm>
          <a:prstGeom prst="rect">
            <a:avLst/>
          </a:prstGeom>
          <a:solidFill>
            <a:srgbClr val="FEF3F2"/>
          </a:solidFill>
          <a:ln w="12700">
            <a:solidFill>
              <a:srgbClr val="FECACA"/>
            </a:solidFill>
            <a:prstDash val="solid"/>
          </a:ln>
        </p:spPr>
      </p:sp>
      <p:sp>
        <p:nvSpPr>
          <p:cNvPr id="11" name="Text 7"/>
          <p:cNvSpPr/>
          <p:nvPr/>
        </p:nvSpPr>
        <p:spPr>
          <a:xfrm>
            <a:off x="4709160" y="3840480"/>
            <a:ext cx="4297680" cy="594360"/>
          </a:xfrm>
          <a:prstGeom prst="rect">
            <a:avLst/>
          </a:prstGeom>
          <a:noFill/>
          <a:ln/>
        </p:spPr>
        <p:txBody>
          <a:bodyPr wrap="square" rtlCol="0" anchor="ctr"/>
          <a:lstStyle/>
          <a:p>
            <a:pPr algn="ctr" indent="0" marL="0">
              <a:buNone/>
            </a:pPr>
            <a:r>
              <a:rPr lang="en-US" sz="1100" dirty="0">
                <a:solidFill>
                  <a:srgbClr val="C0392B"/>
                </a:solidFill>
                <a:latin typeface="Calibri" pitchFamily="34" charset="0"/>
                <a:ea typeface="Calibri" pitchFamily="34" charset="-122"/>
                <a:cs typeface="Calibri" pitchFamily="34" charset="-120"/>
              </a:rPr>
              <a:t>Part-time: +0.012, p = 0.156 — same direction as published +0.018**</a:t>
            </a:r>
            <a:endParaRPr lang="en-US" sz="1100" dirty="0"/>
          </a:p>
          <a:p>
            <a:pPr algn="ctr" indent="0" marL="0">
              <a:buNone/>
            </a:pPr>
            <a:r>
              <a:rPr lang="en-US" sz="1100" dirty="0">
                <a:solidFill>
                  <a:srgbClr val="C0392B"/>
                </a:solidFill>
                <a:latin typeface="Calibri" pitchFamily="34" charset="0"/>
                <a:ea typeface="Calibri" pitchFamily="34" charset="-122"/>
                <a:cs typeface="Calibri" pitchFamily="34" charset="-120"/>
              </a:rPr>
              <a:t>→ Alaska drifts above Synthetic Alaska post-1982</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E6DA4"/>
          </a:solidFill>
          <a:ln w="12700">
            <a:solidFill>
              <a:srgbClr val="2E6DA4"/>
            </a:solidFill>
            <a:prstDash val="solid"/>
          </a:ln>
        </p:spPr>
      </p:sp>
      <p:sp>
        <p:nvSpPr>
          <p:cNvPr id="3" name="Shape 1"/>
          <p:cNvSpPr/>
          <p:nvPr/>
        </p:nvSpPr>
        <p:spPr>
          <a:xfrm>
            <a:off x="365760" y="118872"/>
            <a:ext cx="1554480" cy="256032"/>
          </a:xfrm>
          <a:prstGeom prst="roundRect">
            <a:avLst>
              <a:gd name="adj" fmla="val 17857"/>
            </a:avLst>
          </a:prstGeom>
          <a:solidFill>
            <a:srgbClr val="D6E8F7"/>
          </a:solidFill>
          <a:ln w="12700">
            <a:solidFill>
              <a:srgbClr val="D6E8F7"/>
            </a:solidFill>
            <a:prstDash val="solid"/>
          </a:ln>
        </p:spPr>
      </p:sp>
      <p:sp>
        <p:nvSpPr>
          <p:cNvPr id="4" name="Text 2"/>
          <p:cNvSpPr/>
          <p:nvPr/>
        </p:nvSpPr>
        <p:spPr>
          <a:xfrm>
            <a:off x="365760" y="118872"/>
            <a:ext cx="1554480" cy="256032"/>
          </a:xfrm>
          <a:prstGeom prst="rect">
            <a:avLst/>
          </a:prstGeom>
          <a:noFill/>
          <a:ln/>
        </p:spPr>
        <p:txBody>
          <a:bodyPr wrap="square" lIns="0" tIns="0" rIns="0" bIns="0" rtlCol="0" anchor="ctr"/>
          <a:lstStyle/>
          <a:p>
            <a:pPr algn="ctr" indent="0" marL="0">
              <a:buNone/>
            </a:pPr>
            <a:r>
              <a:rPr lang="en-US" sz="900" b="1" dirty="0">
                <a:solidFill>
                  <a:srgbClr val="2E6DA4"/>
                </a:solidFill>
                <a:latin typeface="Calibri" pitchFamily="34" charset="0"/>
                <a:ea typeface="Calibri" pitchFamily="34" charset="-122"/>
                <a:cs typeface="Calibri" pitchFamily="34" charset="-120"/>
              </a:rPr>
              <a:t>Results &amp; interpretation</a:t>
            </a:r>
            <a:endParaRPr lang="en-US" sz="900" dirty="0"/>
          </a:p>
        </p:txBody>
      </p:sp>
      <p:sp>
        <p:nvSpPr>
          <p:cNvPr id="5" name="Text 3"/>
          <p:cNvSpPr/>
          <p:nvPr/>
        </p:nvSpPr>
        <p:spPr>
          <a:xfrm>
            <a:off x="457200" y="457200"/>
            <a:ext cx="8229600" cy="594360"/>
          </a:xfrm>
          <a:prstGeom prst="rect">
            <a:avLst/>
          </a:prstGeom>
          <a:noFill/>
          <a:ln/>
        </p:spPr>
        <p:txBody>
          <a:bodyPr wrap="square" rtlCol="0" anchor="ctr"/>
          <a:lstStyle/>
          <a:p>
            <a:pPr indent="0" marL="0">
              <a:buNone/>
            </a:pPr>
            <a:r>
              <a:rPr lang="en-US" sz="2200" b="1" dirty="0">
                <a:solidFill>
                  <a:srgbClr val="1C3557"/>
                </a:solidFill>
                <a:latin typeface="Georgia" pitchFamily="34" charset="0"/>
                <a:ea typeface="Georgia" pitchFamily="34" charset="-122"/>
                <a:cs typeface="Georgia" pitchFamily="34" charset="-120"/>
              </a:rPr>
              <a:t>Table 2 — All outcomes + why employment didn't fall</a:t>
            </a:r>
            <a:endParaRPr lang="en-US" sz="2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20040" y="1188720"/>
          <a:ext cx="5212080" cy="2560320"/>
        </p:xfrm>
        <a:graphic>
          <a:graphicData uri="http://schemas.openxmlformats.org/drawingml/2006/table">
            <a:tbl>
              <a:tblPr/>
              <a:tblGrid>
                <a:gridCol w="1691640"/>
                <a:gridCol w="1417320"/>
                <a:gridCol w="1417320"/>
                <a:gridCol w="868680"/>
              </a:tblGrid>
              <a:tr h="51206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Outcome</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C355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Published</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C355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Replicated</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C355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C3557"/>
                    </a:solidFill>
                  </a:tcPr>
                </a:tc>
              </a:tr>
              <a:tr h="512064">
                <a:tc>
                  <a:txBody>
                    <a:bodyPr/>
                    <a:lstStyle/>
                    <a:p>
                      <a:pPr indent="0" marL="0">
                        <a:buNone/>
                      </a:pPr>
                      <a:r>
                        <a:rPr lang="en-US" sz="1100" dirty="0">
                          <a:solidFill>
                            <a:srgbClr val="2C3E50"/>
                          </a:solidFill>
                          <a:latin typeface="Calibri" pitchFamily="34" charset="0"/>
                          <a:ea typeface="Calibri" pitchFamily="34" charset="-122"/>
                          <a:cs typeface="Calibri" pitchFamily="34" charset="-120"/>
                        </a:rPr>
                        <a:t>Employment rate</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100" dirty="0">
                          <a:solidFill>
                            <a:srgbClr val="2C3E50"/>
                          </a:solidFill>
                          <a:latin typeface="Calibri" pitchFamily="34" charset="0"/>
                          <a:ea typeface="Calibri" pitchFamily="34" charset="-122"/>
                          <a:cs typeface="Calibri" pitchFamily="34" charset="-120"/>
                        </a:rPr>
                        <a:t>0.001 (p=.942)</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100" dirty="0">
                          <a:solidFill>
                            <a:srgbClr val="2C3E50"/>
                          </a:solidFill>
                          <a:latin typeface="Calibri" pitchFamily="34" charset="0"/>
                          <a:ea typeface="Calibri" pitchFamily="34" charset="-122"/>
                          <a:cs typeface="Calibri" pitchFamily="34" charset="-120"/>
                        </a:rPr>
                        <a:t>0.013 (p=.459)</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algn="ctr" indent="0" marL="0">
                        <a:buNone/>
                      </a:pPr>
                      <a:r>
                        <a:rPr lang="en-US" sz="1100" b="1" dirty="0">
                          <a:solidFill>
                            <a:srgbClr val="1A7A4A"/>
                          </a:solidFill>
                          <a:latin typeface="Calibri" pitchFamily="34" charset="0"/>
                          <a:ea typeface="Calibri" pitchFamily="34" charset="-122"/>
                          <a:cs typeface="Calibri" pitchFamily="34" charset="-120"/>
                        </a:rPr>
                        <a:t>✓ Null</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r>
              <a:tr h="512064">
                <a:tc>
                  <a:txBody>
                    <a:bodyPr/>
                    <a:lstStyle/>
                    <a:p>
                      <a:pPr indent="0" marL="0">
                        <a:buNone/>
                      </a:pPr>
                      <a:r>
                        <a:rPr lang="en-US" sz="1100" dirty="0">
                          <a:solidFill>
                            <a:srgbClr val="2C3E50"/>
                          </a:solidFill>
                          <a:latin typeface="Calibri" pitchFamily="34" charset="0"/>
                          <a:ea typeface="Calibri" pitchFamily="34" charset="-122"/>
                          <a:cs typeface="Calibri" pitchFamily="34" charset="-120"/>
                        </a:rPr>
                        <a:t>Part-time rate</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100" dirty="0">
                          <a:solidFill>
                            <a:srgbClr val="2C3E50"/>
                          </a:solidFill>
                          <a:latin typeface="Calibri" pitchFamily="34" charset="0"/>
                          <a:ea typeface="Calibri" pitchFamily="34" charset="-122"/>
                          <a:cs typeface="Calibri" pitchFamily="34" charset="-120"/>
                        </a:rPr>
                        <a:t>0.018** (p=.020)</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100" dirty="0">
                          <a:solidFill>
                            <a:srgbClr val="2C3E50"/>
                          </a:solidFill>
                          <a:latin typeface="Calibri" pitchFamily="34" charset="0"/>
                          <a:ea typeface="Calibri" pitchFamily="34" charset="-122"/>
                          <a:cs typeface="Calibri" pitchFamily="34" charset="-120"/>
                        </a:rPr>
                        <a:t>0.012 (p=.156)</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algn="ctr" indent="0" marL="0">
                        <a:buNone/>
                      </a:pPr>
                      <a:r>
                        <a:rPr lang="en-US" sz="1100" b="1" dirty="0">
                          <a:solidFill>
                            <a:srgbClr val="B7650A"/>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r>
              <a:tr h="512064">
                <a:tc>
                  <a:txBody>
                    <a:bodyPr/>
                    <a:lstStyle/>
                    <a:p>
                      <a:pPr indent="0" marL="0">
                        <a:buNone/>
                      </a:pPr>
                      <a:r>
                        <a:rPr lang="en-US" sz="1100" dirty="0">
                          <a:solidFill>
                            <a:srgbClr val="2C3E50"/>
                          </a:solidFill>
                          <a:latin typeface="Calibri" pitchFamily="34" charset="0"/>
                          <a:ea typeface="Calibri" pitchFamily="34" charset="-122"/>
                          <a:cs typeface="Calibri" pitchFamily="34" charset="-120"/>
                        </a:rPr>
                        <a:t>LFP rate</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100" dirty="0">
                          <a:solidFill>
                            <a:srgbClr val="2C3E50"/>
                          </a:solidFill>
                          <a:latin typeface="Calibri" pitchFamily="34" charset="0"/>
                          <a:ea typeface="Calibri" pitchFamily="34" charset="-122"/>
                          <a:cs typeface="Calibri" pitchFamily="34" charset="-120"/>
                        </a:rPr>
                        <a:t>0.012 (p=.331)</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100" dirty="0">
                          <a:solidFill>
                            <a:srgbClr val="2C3E50"/>
                          </a:solidFill>
                          <a:latin typeface="Calibri" pitchFamily="34" charset="0"/>
                          <a:ea typeface="Calibri" pitchFamily="34" charset="-122"/>
                          <a:cs typeface="Calibri" pitchFamily="34" charset="-120"/>
                        </a:rPr>
                        <a:t>0.014 (p=.327)</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algn="ctr" indent="0" marL="0">
                        <a:buNone/>
                      </a:pPr>
                      <a:r>
                        <a:rPr lang="en-US" sz="1100" b="1" dirty="0">
                          <a:solidFill>
                            <a:srgbClr val="1A7A4A"/>
                          </a:solidFill>
                          <a:latin typeface="Calibri" pitchFamily="34" charset="0"/>
                          <a:ea typeface="Calibri" pitchFamily="34" charset="-122"/>
                          <a:cs typeface="Calibri" pitchFamily="34" charset="-120"/>
                        </a:rPr>
                        <a:t>✓ Same</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r>
              <a:tr h="512064">
                <a:tc>
                  <a:txBody>
                    <a:bodyPr/>
                    <a:lstStyle/>
                    <a:p>
                      <a:pPr indent="0" marL="0">
                        <a:buNone/>
                      </a:pPr>
                      <a:r>
                        <a:rPr lang="en-US" sz="1100" dirty="0">
                          <a:solidFill>
                            <a:srgbClr val="2C3E50"/>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100" dirty="0">
                          <a:solidFill>
                            <a:srgbClr val="2C3E50"/>
                          </a:solidFill>
                          <a:latin typeface="Calibri" pitchFamily="34" charset="0"/>
                          <a:ea typeface="Calibri" pitchFamily="34" charset="-122"/>
                          <a:cs typeface="Calibri" pitchFamily="34" charset="-120"/>
                        </a:rPr>
                        <a:t>−0.796 (p=.084)</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indent="0" marL="0">
                        <a:buNone/>
                      </a:pPr>
                      <a:r>
                        <a:rPr lang="en-US" sz="1100" dirty="0">
                          <a:solidFill>
                            <a:srgbClr val="2C3E50"/>
                          </a:solidFill>
                          <a:latin typeface="Calibri" pitchFamily="34" charset="0"/>
                          <a:ea typeface="Calibri" pitchFamily="34" charset="-122"/>
                          <a:cs typeface="Calibri" pitchFamily="34" charset="-120"/>
                        </a:rPr>
                        <a:t>−0.474 (p=.280)</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c>
                  <a:txBody>
                    <a:bodyPr/>
                    <a:lstStyle/>
                    <a:p>
                      <a:pPr algn="ctr" indent="0" marL="0">
                        <a:buNone/>
                      </a:pPr>
                      <a:r>
                        <a:rPr lang="en-US" sz="1100" b="1" dirty="0">
                          <a:solidFill>
                            <a:srgbClr val="B7650A"/>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tcPr>
                </a:tc>
              </a:tr>
            </a:tbl>
          </a:graphicData>
        </a:graphic>
      </p:graphicFrame>
      <p:sp>
        <p:nvSpPr>
          <p:cNvPr id="7" name="Shape 4"/>
          <p:cNvSpPr/>
          <p:nvPr/>
        </p:nvSpPr>
        <p:spPr>
          <a:xfrm>
            <a:off x="320040" y="3886200"/>
            <a:ext cx="5212080" cy="457200"/>
          </a:xfrm>
          <a:prstGeom prst="rect">
            <a:avLst/>
          </a:prstGeom>
          <a:solidFill>
            <a:srgbClr val="D6E8F7"/>
          </a:solidFill>
          <a:ln w="12700">
            <a:solidFill>
              <a:srgbClr val="D6E8F7"/>
            </a:solidFill>
            <a:prstDash val="solid"/>
          </a:ln>
        </p:spPr>
      </p:sp>
      <p:sp>
        <p:nvSpPr>
          <p:cNvPr id="8" name="Text 5"/>
          <p:cNvSpPr/>
          <p:nvPr/>
        </p:nvSpPr>
        <p:spPr>
          <a:xfrm>
            <a:off x="320040" y="3886200"/>
            <a:ext cx="5212080" cy="457200"/>
          </a:xfrm>
          <a:prstGeom prst="rect">
            <a:avLst/>
          </a:prstGeom>
          <a:noFill/>
          <a:ln/>
        </p:spPr>
        <p:txBody>
          <a:bodyPr wrap="square" rtlCol="0" anchor="ctr"/>
          <a:lstStyle/>
          <a:p>
            <a:pPr algn="ctr" indent="0" marL="0">
              <a:buNone/>
            </a:pPr>
            <a:r>
              <a:rPr lang="en-US" sz="1100" b="1" dirty="0">
                <a:solidFill>
                  <a:srgbClr val="1C3557"/>
                </a:solidFill>
                <a:latin typeface="Calibri" pitchFamily="34" charset="0"/>
                <a:ea typeface="Calibri" pitchFamily="34" charset="-122"/>
                <a:cs typeface="Calibri" pitchFamily="34" charset="-120"/>
              </a:rPr>
              <a:t>All 4: qualitative conclusion matches — no significant employment reduction</a:t>
            </a:r>
            <a:endParaRPr lang="en-US" sz="1100" dirty="0"/>
          </a:p>
        </p:txBody>
      </p:sp>
      <p:sp>
        <p:nvSpPr>
          <p:cNvPr id="9" name="Shape 6"/>
          <p:cNvSpPr/>
          <p:nvPr/>
        </p:nvSpPr>
        <p:spPr>
          <a:xfrm>
            <a:off x="5760720" y="1188720"/>
            <a:ext cx="3108960" cy="1005840"/>
          </a:xfrm>
          <a:prstGeom prst="rect">
            <a:avLst/>
          </a:prstGeom>
          <a:solidFill>
            <a:srgbClr val="FEF3F2"/>
          </a:solidFill>
          <a:ln w="12700">
            <a:solidFill>
              <a:srgbClr val="FECACA"/>
            </a:solidFill>
            <a:prstDash val="solid"/>
          </a:ln>
        </p:spPr>
      </p:sp>
      <p:sp>
        <p:nvSpPr>
          <p:cNvPr id="10" name="Text 7"/>
          <p:cNvSpPr/>
          <p:nvPr/>
        </p:nvSpPr>
        <p:spPr>
          <a:xfrm>
            <a:off x="5897880" y="1252728"/>
            <a:ext cx="283464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Income effect (micro)</a:t>
            </a:r>
            <a:endParaRPr lang="en-US" sz="1100" dirty="0"/>
          </a:p>
        </p:txBody>
      </p:sp>
      <p:sp>
        <p:nvSpPr>
          <p:cNvPr id="11" name="Text 8"/>
          <p:cNvSpPr/>
          <p:nvPr/>
        </p:nvSpPr>
        <p:spPr>
          <a:xfrm>
            <a:off x="5897880" y="1527048"/>
            <a:ext cx="2834640" cy="411480"/>
          </a:xfrm>
          <a:prstGeom prst="rect">
            <a:avLst/>
          </a:prstGeom>
          <a:noFill/>
          <a:ln/>
        </p:spPr>
        <p:txBody>
          <a:bodyPr wrap="square" rtlCol="0" anchor="ctr"/>
          <a:lstStyle/>
          <a:p>
            <a:pPr indent="0" marL="0">
              <a:buNone/>
            </a:pPr>
            <a:r>
              <a:rPr lang="en-US" sz="1100" dirty="0">
                <a:solidFill>
                  <a:srgbClr val="2C3E50"/>
                </a:solidFill>
                <a:latin typeface="Calibri" pitchFamily="34" charset="0"/>
                <a:ea typeface="Calibri" pitchFamily="34" charset="-122"/>
                <a:cs typeface="Calibri" pitchFamily="34" charset="-120"/>
              </a:rPr>
              <a:t>Richer → work less → −0.6 pp</a:t>
            </a:r>
            <a:endParaRPr lang="en-US" sz="1100" dirty="0"/>
          </a:p>
        </p:txBody>
      </p:sp>
      <p:sp>
        <p:nvSpPr>
          <p:cNvPr id="12" name="Text 9"/>
          <p:cNvSpPr/>
          <p:nvPr/>
        </p:nvSpPr>
        <p:spPr>
          <a:xfrm>
            <a:off x="7040880" y="2240280"/>
            <a:ext cx="457200" cy="365760"/>
          </a:xfrm>
          <a:prstGeom prst="rect">
            <a:avLst/>
          </a:prstGeom>
          <a:noFill/>
          <a:ln/>
        </p:spPr>
        <p:txBody>
          <a:bodyPr wrap="square" rtlCol="0" anchor="ctr"/>
          <a:lstStyle/>
          <a:p>
            <a:pPr algn="ctr" indent="0" marL="0">
              <a:buNone/>
            </a:pPr>
            <a:r>
              <a:rPr lang="en-US" sz="2200" b="1" dirty="0">
                <a:solidFill>
                  <a:srgbClr val="6B7F95"/>
                </a:solidFill>
                <a:latin typeface="Georgia" pitchFamily="34" charset="0"/>
                <a:ea typeface="Georgia" pitchFamily="34" charset="-122"/>
                <a:cs typeface="Georgia" pitchFamily="34" charset="-120"/>
              </a:rPr>
              <a:t>+</a:t>
            </a:r>
            <a:endParaRPr lang="en-US" sz="2200" dirty="0"/>
          </a:p>
        </p:txBody>
      </p:sp>
      <p:sp>
        <p:nvSpPr>
          <p:cNvPr id="13" name="Shape 10"/>
          <p:cNvSpPr/>
          <p:nvPr/>
        </p:nvSpPr>
        <p:spPr>
          <a:xfrm>
            <a:off x="5760720" y="2697480"/>
            <a:ext cx="3108960" cy="1005840"/>
          </a:xfrm>
          <a:prstGeom prst="rect">
            <a:avLst/>
          </a:prstGeom>
          <a:solidFill>
            <a:srgbClr val="F0FAF5"/>
          </a:solidFill>
          <a:ln w="12700">
            <a:solidFill>
              <a:srgbClr val="86EFAC"/>
            </a:solidFill>
            <a:prstDash val="solid"/>
          </a:ln>
        </p:spPr>
      </p:sp>
      <p:sp>
        <p:nvSpPr>
          <p:cNvPr id="14" name="Text 11"/>
          <p:cNvSpPr/>
          <p:nvPr/>
        </p:nvSpPr>
        <p:spPr>
          <a:xfrm>
            <a:off x="5897880" y="2761488"/>
            <a:ext cx="2834640" cy="274320"/>
          </a:xfrm>
          <a:prstGeom prst="rect">
            <a:avLst/>
          </a:prstGeom>
          <a:noFill/>
          <a:ln/>
        </p:spPr>
        <p:txBody>
          <a:bodyPr wrap="square" rtlCol="0" anchor="ctr"/>
          <a:lstStyle/>
          <a:p>
            <a:pPr indent="0" marL="0">
              <a:buNone/>
            </a:pPr>
            <a:r>
              <a:rPr lang="en-US" sz="1100" b="1" dirty="0">
                <a:solidFill>
                  <a:srgbClr val="1A7A4A"/>
                </a:solidFill>
                <a:latin typeface="Calibri" pitchFamily="34" charset="0"/>
                <a:ea typeface="Calibri" pitchFamily="34" charset="-122"/>
                <a:cs typeface="Calibri" pitchFamily="34" charset="-120"/>
              </a:rPr>
              <a:t>Demand effect (macro)</a:t>
            </a:r>
            <a:endParaRPr lang="en-US" sz="1100" dirty="0"/>
          </a:p>
        </p:txBody>
      </p:sp>
      <p:sp>
        <p:nvSpPr>
          <p:cNvPr id="15" name="Text 12"/>
          <p:cNvSpPr/>
          <p:nvPr/>
        </p:nvSpPr>
        <p:spPr>
          <a:xfrm>
            <a:off x="5897880" y="3035808"/>
            <a:ext cx="2834640" cy="548640"/>
          </a:xfrm>
          <a:prstGeom prst="rect">
            <a:avLst/>
          </a:prstGeom>
          <a:noFill/>
          <a:ln/>
        </p:spPr>
        <p:txBody>
          <a:bodyPr wrap="square" rtlCol="0" anchor="ctr"/>
          <a:lstStyle/>
          <a:p>
            <a:pPr indent="0" marL="0">
              <a:buNone/>
            </a:pPr>
            <a:r>
              <a:rPr lang="en-US" sz="1100" dirty="0">
                <a:solidFill>
                  <a:srgbClr val="2C3E50"/>
                </a:solidFill>
                <a:latin typeface="Calibri" pitchFamily="34" charset="0"/>
                <a:ea typeface="Calibri" pitchFamily="34" charset="-122"/>
                <a:cs typeface="Calibri" pitchFamily="34" charset="-120"/>
              </a:rPr>
              <a:t>Everyone spends locally → more jobs → +0.5 pp</a:t>
            </a:r>
            <a:endParaRPr lang="en-US" sz="1100" dirty="0"/>
          </a:p>
        </p:txBody>
      </p:sp>
      <p:sp>
        <p:nvSpPr>
          <p:cNvPr id="16" name="Shape 13"/>
          <p:cNvSpPr/>
          <p:nvPr/>
        </p:nvSpPr>
        <p:spPr>
          <a:xfrm>
            <a:off x="5760720" y="3840480"/>
            <a:ext cx="3108960" cy="502920"/>
          </a:xfrm>
          <a:prstGeom prst="rect">
            <a:avLst/>
          </a:prstGeom>
          <a:solidFill>
            <a:srgbClr val="2E6DA4"/>
          </a:solidFill>
          <a:ln w="12700">
            <a:solidFill>
              <a:srgbClr val="2E6DA4"/>
            </a:solidFill>
            <a:prstDash val="solid"/>
          </a:ln>
        </p:spPr>
      </p:sp>
      <p:sp>
        <p:nvSpPr>
          <p:cNvPr id="17" name="Text 14"/>
          <p:cNvSpPr/>
          <p:nvPr/>
        </p:nvSpPr>
        <p:spPr>
          <a:xfrm>
            <a:off x="5760720" y="3840480"/>
            <a:ext cx="3108960" cy="5029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Net ≈ 0  →  null employment result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E6DA4"/>
          </a:solidFill>
          <a:ln w="12700">
            <a:solidFill>
              <a:srgbClr val="2E6DA4"/>
            </a:solidFill>
            <a:prstDash val="solid"/>
          </a:ln>
        </p:spPr>
      </p:sp>
      <p:sp>
        <p:nvSpPr>
          <p:cNvPr id="3" name="Text 1"/>
          <p:cNvSpPr/>
          <p:nvPr/>
        </p:nvSpPr>
        <p:spPr>
          <a:xfrm>
            <a:off x="548640" y="228600"/>
            <a:ext cx="8046720" cy="640080"/>
          </a:xfrm>
          <a:prstGeom prst="rect">
            <a:avLst/>
          </a:prstGeom>
          <a:noFill/>
          <a:ln/>
        </p:spPr>
        <p:txBody>
          <a:bodyPr wrap="square"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Takeaways</a:t>
            </a:r>
            <a:endParaRPr lang="en-US" sz="3600" dirty="0"/>
          </a:p>
        </p:txBody>
      </p:sp>
      <p:sp>
        <p:nvSpPr>
          <p:cNvPr id="4" name="Shape 2"/>
          <p:cNvSpPr/>
          <p:nvPr/>
        </p:nvSpPr>
        <p:spPr>
          <a:xfrm>
            <a:off x="365760" y="1005840"/>
            <a:ext cx="4206240" cy="1691640"/>
          </a:xfrm>
          <a:prstGeom prst="rect">
            <a:avLst/>
          </a:prstGeom>
          <a:solidFill>
            <a:srgbClr val="FFFFFF">
              <a:alpha val="10000"/>
            </a:srgbClr>
          </a:solidFill>
          <a:ln w="12700">
            <a:solidFill>
              <a:srgbClr val="FFFFFF">
                <a:alpha val="35000"/>
              </a:srgbClr>
            </a:solidFill>
            <a:prstDash val="solid"/>
          </a:ln>
        </p:spPr>
      </p:sp>
      <p:sp>
        <p:nvSpPr>
          <p:cNvPr id="5" name="Text 3"/>
          <p:cNvSpPr/>
          <p:nvPr/>
        </p:nvSpPr>
        <p:spPr>
          <a:xfrm>
            <a:off x="502920" y="1097280"/>
            <a:ext cx="502920" cy="347472"/>
          </a:xfrm>
          <a:prstGeom prst="rect">
            <a:avLst/>
          </a:prstGeom>
          <a:noFill/>
          <a:ln/>
        </p:spPr>
        <p:txBody>
          <a:bodyPr wrap="square" rtlCol="0" anchor="ctr"/>
          <a:lstStyle/>
          <a:p>
            <a:pPr indent="0" marL="0">
              <a:buNone/>
            </a:pPr>
            <a:r>
              <a:rPr lang="en-US" sz="1100" b="1" dirty="0">
                <a:solidFill>
                  <a:srgbClr val="2E6DA4"/>
                </a:solidFill>
                <a:latin typeface="Calibri" pitchFamily="34" charset="0"/>
                <a:ea typeface="Calibri" pitchFamily="34" charset="-122"/>
                <a:cs typeface="Calibri" pitchFamily="34" charset="-120"/>
              </a:rPr>
              <a:t>01</a:t>
            </a:r>
            <a:endParaRPr lang="en-US" sz="1100" dirty="0"/>
          </a:p>
        </p:txBody>
      </p:sp>
      <p:sp>
        <p:nvSpPr>
          <p:cNvPr id="6" name="Text 4"/>
          <p:cNvSpPr/>
          <p:nvPr/>
        </p:nvSpPr>
        <p:spPr>
          <a:xfrm>
            <a:off x="502920" y="1444752"/>
            <a:ext cx="393192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employment effect</a:t>
            </a:r>
            <a:endParaRPr lang="en-US" sz="1400" dirty="0"/>
          </a:p>
        </p:txBody>
      </p:sp>
      <p:sp>
        <p:nvSpPr>
          <p:cNvPr id="7" name="Text 5"/>
          <p:cNvSpPr/>
          <p:nvPr/>
        </p:nvSpPr>
        <p:spPr>
          <a:xfrm>
            <a:off x="502920" y="1810512"/>
            <a:ext cx="3931920" cy="749808"/>
          </a:xfrm>
          <a:prstGeom prst="rect">
            <a:avLst/>
          </a:prstGeom>
          <a:noFill/>
          <a:ln/>
        </p:spPr>
        <p:txBody>
          <a:bodyPr wrap="square" rtlCol="0" anchor="t"/>
          <a:lstStyle/>
          <a:p>
            <a:pPr indent="0" marL="0">
              <a:buNone/>
            </a:pPr>
            <a:r>
              <a:rPr lang="en-US" sz="1200" dirty="0">
                <a:solidFill>
                  <a:srgbClr val="D6E8F7"/>
                </a:solidFill>
                <a:latin typeface="Calibri" pitchFamily="34" charset="0"/>
                <a:ea typeface="Calibri" pitchFamily="34" charset="-122"/>
                <a:cs typeface="Calibri" pitchFamily="34" charset="-120"/>
              </a:rPr>
              <a:t>GE demand effects offset the income effect — cash transfers don't kill jobs when everyone gets them simultaneously</a:t>
            </a:r>
            <a:endParaRPr lang="en-US" sz="1200" dirty="0"/>
          </a:p>
        </p:txBody>
      </p:sp>
      <p:sp>
        <p:nvSpPr>
          <p:cNvPr id="8" name="Shape 6"/>
          <p:cNvSpPr/>
          <p:nvPr/>
        </p:nvSpPr>
        <p:spPr>
          <a:xfrm>
            <a:off x="4800600" y="1005840"/>
            <a:ext cx="4206240" cy="1691640"/>
          </a:xfrm>
          <a:prstGeom prst="rect">
            <a:avLst/>
          </a:prstGeom>
          <a:solidFill>
            <a:srgbClr val="FFFFFF">
              <a:alpha val="10000"/>
            </a:srgbClr>
          </a:solidFill>
          <a:ln w="12700">
            <a:solidFill>
              <a:srgbClr val="FFFFFF">
                <a:alpha val="35000"/>
              </a:srgbClr>
            </a:solidFill>
            <a:prstDash val="solid"/>
          </a:ln>
        </p:spPr>
      </p:sp>
      <p:sp>
        <p:nvSpPr>
          <p:cNvPr id="9" name="Text 7"/>
          <p:cNvSpPr/>
          <p:nvPr/>
        </p:nvSpPr>
        <p:spPr>
          <a:xfrm>
            <a:off x="4937760" y="1097280"/>
            <a:ext cx="502920" cy="347472"/>
          </a:xfrm>
          <a:prstGeom prst="rect">
            <a:avLst/>
          </a:prstGeom>
          <a:noFill/>
          <a:ln/>
        </p:spPr>
        <p:txBody>
          <a:bodyPr wrap="square" rtlCol="0" anchor="ctr"/>
          <a:lstStyle/>
          <a:p>
            <a:pPr indent="0" marL="0">
              <a:buNone/>
            </a:pPr>
            <a:r>
              <a:rPr lang="en-US" sz="1100" b="1" dirty="0">
                <a:solidFill>
                  <a:srgbClr val="2E6DA4"/>
                </a:solidFill>
                <a:latin typeface="Calibri" pitchFamily="34" charset="0"/>
                <a:ea typeface="Calibri" pitchFamily="34" charset="-122"/>
                <a:cs typeface="Calibri" pitchFamily="34" charset="-120"/>
              </a:rPr>
              <a:t>02</a:t>
            </a:r>
            <a:endParaRPr lang="en-US" sz="1100" dirty="0"/>
          </a:p>
        </p:txBody>
      </p:sp>
      <p:sp>
        <p:nvSpPr>
          <p:cNvPr id="10" name="Text 8"/>
          <p:cNvSpPr/>
          <p:nvPr/>
        </p:nvSpPr>
        <p:spPr>
          <a:xfrm>
            <a:off x="4937760" y="1444752"/>
            <a:ext cx="393192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Hours, not jobs</a:t>
            </a:r>
            <a:endParaRPr lang="en-US" sz="1400" dirty="0"/>
          </a:p>
        </p:txBody>
      </p:sp>
      <p:sp>
        <p:nvSpPr>
          <p:cNvPr id="11" name="Text 9"/>
          <p:cNvSpPr/>
          <p:nvPr/>
        </p:nvSpPr>
        <p:spPr>
          <a:xfrm>
            <a:off x="4937760" y="1810512"/>
            <a:ext cx="3931920" cy="749808"/>
          </a:xfrm>
          <a:prstGeom prst="rect">
            <a:avLst/>
          </a:prstGeom>
          <a:noFill/>
          <a:ln/>
        </p:spPr>
        <p:txBody>
          <a:bodyPr wrap="square" rtlCol="0" anchor="t"/>
          <a:lstStyle/>
          <a:p>
            <a:pPr indent="0" marL="0">
              <a:buNone/>
            </a:pPr>
            <a:r>
              <a:rPr lang="en-US" sz="1200" dirty="0">
                <a:solidFill>
                  <a:srgbClr val="D6E8F7"/>
                </a:solidFill>
                <a:latin typeface="Calibri" pitchFamily="34" charset="0"/>
                <a:ea typeface="Calibri" pitchFamily="34" charset="-122"/>
                <a:cs typeface="Calibri" pitchFamily="34" charset="-120"/>
              </a:rPr>
              <a:t>Income effect shows on the intensive margin (part-time shift), not whether people quit</a:t>
            </a:r>
            <a:endParaRPr lang="en-US" sz="1200" dirty="0"/>
          </a:p>
        </p:txBody>
      </p:sp>
      <p:sp>
        <p:nvSpPr>
          <p:cNvPr id="12" name="Shape 10"/>
          <p:cNvSpPr/>
          <p:nvPr/>
        </p:nvSpPr>
        <p:spPr>
          <a:xfrm>
            <a:off x="365760" y="2880360"/>
            <a:ext cx="4206240" cy="1691640"/>
          </a:xfrm>
          <a:prstGeom prst="rect">
            <a:avLst/>
          </a:prstGeom>
          <a:solidFill>
            <a:srgbClr val="FFFFFF">
              <a:alpha val="10000"/>
            </a:srgbClr>
          </a:solidFill>
          <a:ln w="12700">
            <a:solidFill>
              <a:srgbClr val="FFFFFF">
                <a:alpha val="35000"/>
              </a:srgbClr>
            </a:solidFill>
            <a:prstDash val="solid"/>
          </a:ln>
        </p:spPr>
      </p:sp>
      <p:sp>
        <p:nvSpPr>
          <p:cNvPr id="13" name="Text 11"/>
          <p:cNvSpPr/>
          <p:nvPr/>
        </p:nvSpPr>
        <p:spPr>
          <a:xfrm>
            <a:off x="502920" y="2971800"/>
            <a:ext cx="502920" cy="347472"/>
          </a:xfrm>
          <a:prstGeom prst="rect">
            <a:avLst/>
          </a:prstGeom>
          <a:noFill/>
          <a:ln/>
        </p:spPr>
        <p:txBody>
          <a:bodyPr wrap="square" rtlCol="0" anchor="ctr"/>
          <a:lstStyle/>
          <a:p>
            <a:pPr indent="0" marL="0">
              <a:buNone/>
            </a:pPr>
            <a:r>
              <a:rPr lang="en-US" sz="1100" b="1" dirty="0">
                <a:solidFill>
                  <a:srgbClr val="2E6DA4"/>
                </a:solidFill>
                <a:latin typeface="Calibri" pitchFamily="34" charset="0"/>
                <a:ea typeface="Calibri" pitchFamily="34" charset="-122"/>
                <a:cs typeface="Calibri" pitchFamily="34" charset="-120"/>
              </a:rPr>
              <a:t>03</a:t>
            </a:r>
            <a:endParaRPr lang="en-US" sz="1100" dirty="0"/>
          </a:p>
        </p:txBody>
      </p:sp>
      <p:sp>
        <p:nvSpPr>
          <p:cNvPr id="14" name="Text 12"/>
          <p:cNvSpPr/>
          <p:nvPr/>
        </p:nvSpPr>
        <p:spPr>
          <a:xfrm>
            <a:off x="502920" y="3319272"/>
            <a:ext cx="393192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UBI policy implication</a:t>
            </a:r>
            <a:endParaRPr lang="en-US" sz="1400" dirty="0"/>
          </a:p>
        </p:txBody>
      </p:sp>
      <p:sp>
        <p:nvSpPr>
          <p:cNvPr id="15" name="Text 13"/>
          <p:cNvSpPr/>
          <p:nvPr/>
        </p:nvSpPr>
        <p:spPr>
          <a:xfrm>
            <a:off x="502920" y="3685032"/>
            <a:ext cx="3931920" cy="749808"/>
          </a:xfrm>
          <a:prstGeom prst="rect">
            <a:avLst/>
          </a:prstGeom>
          <a:noFill/>
          <a:ln/>
        </p:spPr>
        <p:txBody>
          <a:bodyPr wrap="square" rtlCol="0" anchor="t"/>
          <a:lstStyle/>
          <a:p>
            <a:pPr indent="0" marL="0">
              <a:buNone/>
            </a:pPr>
            <a:r>
              <a:rPr lang="en-US" sz="1200" dirty="0">
                <a:solidFill>
                  <a:srgbClr val="D6E8F7"/>
                </a:solidFill>
                <a:latin typeface="Calibri" pitchFamily="34" charset="0"/>
                <a:ea typeface="Calibri" pitchFamily="34" charset="-122"/>
                <a:cs typeface="Calibri" pitchFamily="34" charset="-120"/>
              </a:rPr>
              <a:t>Macro effects of universal programs are much smaller than micro labor-supply models predict</a:t>
            </a:r>
            <a:endParaRPr lang="en-US" sz="1200" dirty="0"/>
          </a:p>
        </p:txBody>
      </p:sp>
      <p:sp>
        <p:nvSpPr>
          <p:cNvPr id="16" name="Shape 14"/>
          <p:cNvSpPr/>
          <p:nvPr/>
        </p:nvSpPr>
        <p:spPr>
          <a:xfrm>
            <a:off x="4800600" y="2880360"/>
            <a:ext cx="4206240" cy="1691640"/>
          </a:xfrm>
          <a:prstGeom prst="rect">
            <a:avLst/>
          </a:prstGeom>
          <a:solidFill>
            <a:srgbClr val="FFFFFF">
              <a:alpha val="10000"/>
            </a:srgbClr>
          </a:solidFill>
          <a:ln w="12700">
            <a:solidFill>
              <a:srgbClr val="FFFFFF">
                <a:alpha val="35000"/>
              </a:srgbClr>
            </a:solidFill>
            <a:prstDash val="solid"/>
          </a:ln>
        </p:spPr>
      </p:sp>
      <p:sp>
        <p:nvSpPr>
          <p:cNvPr id="17" name="Text 15"/>
          <p:cNvSpPr/>
          <p:nvPr/>
        </p:nvSpPr>
        <p:spPr>
          <a:xfrm>
            <a:off x="4937760" y="2971800"/>
            <a:ext cx="502920" cy="347472"/>
          </a:xfrm>
          <a:prstGeom prst="rect">
            <a:avLst/>
          </a:prstGeom>
          <a:noFill/>
          <a:ln/>
        </p:spPr>
        <p:txBody>
          <a:bodyPr wrap="square" rtlCol="0" anchor="ctr"/>
          <a:lstStyle/>
          <a:p>
            <a:pPr indent="0" marL="0">
              <a:buNone/>
            </a:pPr>
            <a:r>
              <a:rPr lang="en-US" sz="1100" b="1" dirty="0">
                <a:solidFill>
                  <a:srgbClr val="2E6DA4"/>
                </a:solidFill>
                <a:latin typeface="Calibri" pitchFamily="34" charset="0"/>
                <a:ea typeface="Calibri" pitchFamily="34" charset="-122"/>
                <a:cs typeface="Calibri" pitchFamily="34" charset="-120"/>
              </a:rPr>
              <a:t>04</a:t>
            </a:r>
            <a:endParaRPr lang="en-US" sz="1100" dirty="0"/>
          </a:p>
        </p:txBody>
      </p:sp>
      <p:sp>
        <p:nvSpPr>
          <p:cNvPr id="18" name="Text 16"/>
          <p:cNvSpPr/>
          <p:nvPr/>
        </p:nvSpPr>
        <p:spPr>
          <a:xfrm>
            <a:off x="4937760" y="3319272"/>
            <a:ext cx="393192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SCM lesson</a:t>
            </a:r>
            <a:endParaRPr lang="en-US" sz="1400" dirty="0"/>
          </a:p>
        </p:txBody>
      </p:sp>
      <p:sp>
        <p:nvSpPr>
          <p:cNvPr id="19" name="Text 17"/>
          <p:cNvSpPr/>
          <p:nvPr/>
        </p:nvSpPr>
        <p:spPr>
          <a:xfrm>
            <a:off x="4937760" y="3685032"/>
            <a:ext cx="3931920" cy="749808"/>
          </a:xfrm>
          <a:prstGeom prst="rect">
            <a:avLst/>
          </a:prstGeom>
          <a:noFill/>
          <a:ln/>
        </p:spPr>
        <p:txBody>
          <a:bodyPr wrap="square" rtlCol="0" anchor="t"/>
          <a:lstStyle/>
          <a:p>
            <a:pPr indent="0" marL="0">
              <a:buNone/>
            </a:pPr>
            <a:r>
              <a:rPr lang="en-US" sz="1200" dirty="0">
                <a:solidFill>
                  <a:srgbClr val="D6E8F7"/>
                </a:solidFill>
                <a:latin typeface="Calibri" pitchFamily="34" charset="0"/>
                <a:ea typeface="Calibri" pitchFamily="34" charset="-122"/>
                <a:cs typeface="Calibri" pitchFamily="34" charset="-120"/>
              </a:rPr>
              <a:t>Credibility lives in pre-period fit (RMSE 0.0036) — p-values are very sensitive to placebo pool size</a:t>
            </a:r>
            <a:endParaRPr lang="en-US" sz="1200" dirty="0"/>
          </a:p>
        </p:txBody>
      </p:sp>
      <p:sp>
        <p:nvSpPr>
          <p:cNvPr id="20" name="Text 18"/>
          <p:cNvSpPr/>
          <p:nvPr/>
        </p:nvSpPr>
        <p:spPr>
          <a:xfrm>
            <a:off x="0" y="4864608"/>
            <a:ext cx="9144000" cy="256032"/>
          </a:xfrm>
          <a:prstGeom prst="rect">
            <a:avLst/>
          </a:prstGeom>
          <a:noFill/>
          <a:ln/>
        </p:spPr>
        <p:txBody>
          <a:bodyPr wrap="square" rtlCol="0" anchor="ctr"/>
          <a:lstStyle/>
          <a:p>
            <a:pPr algn="ctr" indent="0" marL="0">
              <a:buNone/>
            </a:pPr>
            <a:r>
              <a:rPr lang="en-US" sz="1000" dirty="0">
                <a:solidFill>
                  <a:srgbClr val="6B7F95"/>
                </a:solidFill>
                <a:latin typeface="Calibri" pitchFamily="34" charset="0"/>
                <a:ea typeface="Calibri" pitchFamily="34" charset="-122"/>
                <a:cs typeface="Calibri" pitchFamily="34" charset="-120"/>
              </a:rPr>
              <a:t>github.com/JamesDuce/GSE-552-Replication-Paper</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James Duce</dc:creator>
  <cp:lastModifiedBy>James Duce</cp:lastModifiedBy>
  <cp:revision>1</cp:revision>
  <dcterms:created xsi:type="dcterms:W3CDTF">2026-06-02T19:49:46Z</dcterms:created>
  <dcterms:modified xsi:type="dcterms:W3CDTF">2026-06-02T19:49:46Z</dcterms:modified>
</cp:coreProperties>
</file>